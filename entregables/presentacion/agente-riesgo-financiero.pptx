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042806e3054155" /><Relationship Type="http://schemas.openxmlformats.org/officeDocument/2006/relationships/extended-properties" Target="/docProps/app.xml" Id="R2a4d1eeb29f244cf" /><Relationship Type="http://schemas.openxmlformats.org/officeDocument/2006/relationships/officeDocument" Target="/ppt/presentation.xml" Id="Rf60608fb6d4f45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cb89d87db49be"/>
  </p:sldMasterIdLst>
  <p:notesMasterIdLst>
    <p:notesMasterId xmlns:r="http://schemas.openxmlformats.org/officeDocument/2006/relationships" r:id="R208a1225d77f4bd2"/>
  </p:notesMasterIdLst>
  <p:sldIdLst>
    <p:sldId xmlns:r="http://schemas.openxmlformats.org/officeDocument/2006/relationships" id="256" r:id="Racaf501f401c47e3"/>
    <p:sldId xmlns:r="http://schemas.openxmlformats.org/officeDocument/2006/relationships" id="257" r:id="R43d7a69a2ee4457b"/>
    <p:sldId xmlns:r="http://schemas.openxmlformats.org/officeDocument/2006/relationships" id="258" r:id="R060290b6458946a5"/>
    <p:sldId xmlns:r="http://schemas.openxmlformats.org/officeDocument/2006/relationships" id="259" r:id="R0623f390035242a2"/>
    <p:sldId xmlns:r="http://schemas.openxmlformats.org/officeDocument/2006/relationships" id="260" r:id="Rea83609c547142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a2b6485e584b6f" /><Relationship Type="http://schemas.openxmlformats.org/officeDocument/2006/relationships/slideMaster" Target="/ppt/slideMasters/slideMaster1.xml" Id="R99dcb89d87db49be" /><Relationship Type="http://schemas.openxmlformats.org/officeDocument/2006/relationships/notesMaster" Target="/ppt/notesMasters/notesMaster1.xml" Id="R208a1225d77f4bd2" /><Relationship Type="http://schemas.openxmlformats.org/officeDocument/2006/relationships/presProps" Target="/ppt/presProps.xml" Id="R0323e56627124f97" /><Relationship Type="http://schemas.openxmlformats.org/officeDocument/2006/relationships/tableStyles" Target="/ppt/tableStyles.xml" Id="R3949112a68a94814" /><Relationship Type="http://schemas.openxmlformats.org/officeDocument/2006/relationships/slide" Target="/ppt/slides/slide1.xml" Id="Racaf501f401c47e3" /><Relationship Type="http://schemas.openxmlformats.org/officeDocument/2006/relationships/slide" Target="/ppt/slides/slide2.xml" Id="R43d7a69a2ee4457b" /><Relationship Type="http://schemas.openxmlformats.org/officeDocument/2006/relationships/slide" Target="/ppt/slides/slide3.xml" Id="R060290b6458946a5" /><Relationship Type="http://schemas.openxmlformats.org/officeDocument/2006/relationships/slide" Target="/ppt/slides/slide4.xml" Id="R0623f390035242a2" /><Relationship Type="http://schemas.openxmlformats.org/officeDocument/2006/relationships/slide" Target="/ppt/slides/slide5.xml" Id="Rea83609c547142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051a0caa1d45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1c069e8674af9" /><Relationship Type="http://schemas.openxmlformats.org/officeDocument/2006/relationships/notesMaster" Target="/ppt/notesMasters/notesMaster1.xml" Id="Rf37ea893db3b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61d4dde8864763" /><Relationship Type="http://schemas.openxmlformats.org/officeDocument/2006/relationships/notesMaster" Target="/ppt/notesMasters/notesMaster1.xml" Id="R0bde2c68d9c341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41089c4de64136" /><Relationship Type="http://schemas.openxmlformats.org/officeDocument/2006/relationships/notesMaster" Target="/ppt/notesMasters/notesMaster1.xml" Id="Rfae3118ed66742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4a2d79d0c24003" /><Relationship Type="http://schemas.openxmlformats.org/officeDocument/2006/relationships/notesMaster" Target="/ppt/notesMasters/notesMaster1.xml" Id="R9053b501377341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9625eb145948a1" /><Relationship Type="http://schemas.openxmlformats.org/officeDocument/2006/relationships/notesMaster" Target="/ppt/notesMasters/notesMaster1.xml" Id="R8d9e59390e7144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Presentamos un agente que convierte estados financieros en PDF en información útil para el análisis. La propuesta no reemplaza al contador ni al asesor: acelera la revisión inicial, calcula indicadores de forma verificable y permite consultar la evidencia del documento. Hoy mostraremos el problema, la tecnología, la arquitectura y los resultados funcionales.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D:/Documents/agente_riesgo_financiero.pdf</a:t>
            </a:r>
          </a:p>
          <a:p xmlns:a="http://schemas.openxmlformats.org/drawingml/2006/main">
            <a:r>
              <a:t>- Imagen de portada generada con OpenAI Image Generation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comienza con documentos extensos y técnicos. El analista debe localizar las cifras, realizar cálculos y recordar umbrales de riesgo. Esto consume tiempo y puede ocultar una caída de ingresos, un deterioro de liquidez o un aumento del endeudamiento. La oportunidad es automatizar la lectura inicial sin perder trazabilidad: cada conclusión debe estar respaldada por un cálculo o por evidencia del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D:/Documents/agente_riesgo_financiero.pdf, secciones 1 a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interfaz se construyó con Streamlit y el backend con FastAPI. LangGraph organiza el agente, mientras Gemini se utiliza para OCR, extracción estructurada, resúmenes, respuestas y embeddings. SQLite conserva usuarios, sesiones y análisis; MLflow observa cada ejecución. La seguridad combina JWT, bcrypt y autorización por roles. Un punto importante es que los ratios se calculan en Python: Gemini los interpreta, pero no inventa las fórmulas ni los valores.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D:/Documents/agente_riesgo_financiero.pdf, secciones 5 y 6</a:t>
            </a:r>
          </a:p>
          <a:p xmlns:a="http://schemas.openxmlformats.org/drawingml/2006/main">
            <a:r>
              <a:t>- D:/Documents/ChatGPT/Riesgo-Financiero/requirements.txt</a:t>
            </a:r>
          </a:p>
          <a:p xmlns:a="http://schemas.openxmlformats.org/drawingml/2006/main">
            <a:r>
              <a:t>- D:/Documents/ChatGPT/Riesgo-Financiero/README.md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usuario trabaja en Streamlit y cada operación protegida viaja con un JWT hacia FastAPI. El PDF puede procesarse por extracción normal u OCR. LangGraph ejecuta cuatro nodos: extracción, cálculo, alertas y resumen. Para preguntas usamos otro grafo con RAG graduado: primero busca indicadores estructurados, luego coincidencias literales y finalmente similitud semántica. Si no existe evidencia suficiente, el flujo solicita aclaración en vez de inventar una respuesta. MLflow registra qué nodo se ejecutó y cuánto demoró.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D:/Documents/agente_riesgo_financiero.pdf, sección 6</a:t>
            </a:r>
          </a:p>
          <a:p xmlns:a="http://schemas.openxmlformats.org/drawingml/2006/main">
            <a:r>
              <a:t>- D:/Documents/ChatGPT/Riesgo-Financiero/backend/workflow/graph.py</a:t>
            </a:r>
          </a:p>
          <a:p xmlns:a="http://schemas.openxmlformats.org/drawingml/2006/main">
            <a:r>
              <a:t>- D:/Documents/ChatGPT/Riesgo-Financiero/backend/workflow/state.py</a:t>
            </a:r>
          </a:p>
          <a:p xmlns:a="http://schemas.openxmlformats.org/drawingml/2006/main">
            <a:r>
              <a:t>- D:/Documents/ChatGPT/Riesgo-Financiero/backend/agent/qa.py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evidencia debe mostrarse con capturas reales durante la demo: el análisis y sus alertas, el dashboard y una pregunta respondida con el fragmento recuperado. Todas las pruebas usan documentos sintéticos. El resultado es una herramienta que automatiza la revisión inicial, genera reportes y protege el acceso por roles. Como siguiente iteración proponemos comparación histórica, extracción de contingencias desde notas y una base PostgreSQL para escenarios de mayor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D:/Documents/agente_riesgo_financiero.pdf, secciones 8 a 10</a:t>
            </a:r>
          </a:p>
          <a:p xmlns:a="http://schemas.openxmlformats.org/drawingml/2006/main">
            <a:r>
              <a:t>- D:/Documents/ChatGPT/Riesgo-Financiero/output/GUIA_PRUEBAS.md</a:t>
            </a:r>
          </a:p>
          <a:p xmlns:a="http://schemas.openxmlformats.org/drawingml/2006/main">
            <a:r>
              <a:t>- D:/Documents/ChatGPT/Riesgo-Financiero/frontend/app.py</a:t>
            </a:r>
          </a:p>
          <a:p xmlns:a="http://schemas.openxmlformats.org/drawingml/2006/main">
            <a:r>
              <a:t>- D:/Documents/ChatGPT/Riesgo-Financiero/frontend/dashboard.py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416741235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0dfcbe0dd4aba" /><Relationship Type="http://schemas.openxmlformats.org/officeDocument/2006/relationships/slideLayout" Target="/ppt/slideLayouts/slideLayout1.xml" Id="Rcf5317fe338a42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5317fe338a42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55bbea9144d62" /><Relationship Type="http://schemas.openxmlformats.org/officeDocument/2006/relationships/image" Target="/ppt/media/image.png" Id="R4ac8b849983e4819" /><Relationship Type="http://schemas.openxmlformats.org/officeDocument/2006/relationships/notesSlide" Target="/ppt/notesSlides/notesSlide1.xml" Id="R4c8853fe47ef43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3229336ec45f6" /><Relationship Type="http://schemas.openxmlformats.org/officeDocument/2006/relationships/notesSlide" Target="/ppt/notesSlides/notesSlide2.xml" Id="Rcb1092c2c8d745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d6ce6c16c410b" /><Relationship Type="http://schemas.openxmlformats.org/officeDocument/2006/relationships/notesSlide" Target="/ppt/notesSlides/notesSlide3.xml" Id="R1c796970d884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50093bf344a87" /><Relationship Type="http://schemas.openxmlformats.org/officeDocument/2006/relationships/notesSlide" Target="/ppt/notesSlides/notesSlide4.xml" Id="Rde208c028c5b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decd325b44072" /><Relationship Type="http://schemas.openxmlformats.org/officeDocument/2006/relationships/notesSlide" Target="/ppt/notesSlides/notesSlide5.xml" Id="R6ecdbb91e1794b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8b849983e481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3AD4132F-9FC8-42A9-B3DA-3B3F5DF9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B43BFA5-5491-4349-B599-D1DFB18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8675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058C491-0526-4EBD-97F1-30C31A86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D5FF"/>
                </a:solidFill>
              </a:defRPr>
            </a:pPr>
            <a:r>
              <a:rPr sz="1200" b="1">
                <a:solidFill>
                  <a:srgbClr val="37D5FF"/>
                </a:solidFill>
              </a:rPr>
              <a:t>ANÁLISIS FINANCIERO + IA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70D4B4-E362-4DC8-8A86-590CF293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Agente de Análisis</a:t>
            </a:r>
          </a:p>
          <a:p xmlns:a="http://schemas.openxmlformats.org/drawingml/2006/main">
            <a:pPr algn="l"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de Riesgo Financiero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DD08459-D349-4B48-881B-5D7D40B6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FC5DC"/>
                </a:solidFill>
              </a:defRPr>
            </a:pPr>
            <a:r>
              <a:rPr sz="1800" b="0">
                <a:solidFill>
                  <a:srgbClr val="AFC5DC"/>
                </a:solidFill>
              </a:rPr>
              <a:t>Análisis inteligente y fundamentado</a:t>
            </a:r>
          </a:p>
          <a:p xmlns:a="http://schemas.openxmlformats.org/drawingml/2006/main">
            <a:pPr algn="l">
              <a:defRPr sz="1800" b="0">
                <a:solidFill>
                  <a:srgbClr val="AFC5DC"/>
                </a:solidFill>
              </a:defRPr>
            </a:pPr>
            <a:r>
              <a:rPr sz="1800" b="0">
                <a:solidFill>
                  <a:srgbClr val="AFC5DC"/>
                </a:solidFill>
              </a:rPr>
              <a:t>de estados financieros</a:t>
            </a:r>
          </a:p>
        </p:txBody>
      </p:sp>
      <p:sp>
        <p:nvSpPr>
          <p:cNvPr id="7" name="cover-claim">
            <a:extLst xmlns:a="http://schemas.openxmlformats.org/drawingml/2006/main">
              <a:ext uri="{FF2B5EF4-FFF2-40B4-BE49-F238E27FC236}">
                <a16:creationId xmlns:a16="http://schemas.microsoft.com/office/drawing/2014/main" id="{81A18521-3455-4186-88C5-E967F475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De un PDF a indicadores, alertas</a:t>
            </a:r>
          </a:p>
          <a:p xmlns:a="http://schemas.openxmlformats.org/drawingml/2006/main">
            <a:pPr algn="l"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y respuestas con evidencia.</a:t>
            </a:r>
          </a:p>
        </p:txBody>
      </p:sp>
      <p:sp>
        <p:nvSpPr>
          <p:cNvPr id="8" name="cover-meta-line">
            <a:extLst xmlns:a="http://schemas.openxmlformats.org/drawingml/2006/main">
              <a:ext uri="{FF2B5EF4-FFF2-40B4-BE49-F238E27FC236}">
                <a16:creationId xmlns:a16="http://schemas.microsoft.com/office/drawing/2014/main" id="{58DF366F-ED35-4C04-B787-1F931D54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team">
            <a:extLst xmlns:a="http://schemas.openxmlformats.org/drawingml/2006/main">
              <a:ext uri="{FF2B5EF4-FFF2-40B4-BE49-F238E27FC236}">
                <a16:creationId xmlns:a16="http://schemas.microsoft.com/office/drawing/2014/main" id="{2B461324-710C-4B89-9EFB-9F05FAD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5DC"/>
                </a:solidFill>
              </a:defRPr>
            </a:pPr>
            <a:r>
              <a:rPr sz="1050" b="1">
                <a:solidFill>
                  <a:srgbClr val="AFC5DC"/>
                </a:solidFill>
              </a:rPr>
              <a:t>EQUIPO  [COLOCAR NOMBRES]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57D9ED57-009F-4CC8-ACD6-538B4401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5DC"/>
                </a:solidFill>
              </a:defRPr>
            </a:pPr>
            <a:r>
              <a:rPr sz="1050" b="0">
                <a:solidFill>
                  <a:srgbClr val="AFC5DC"/>
                </a:solidFill>
              </a:rPr>
              <a:t>[COLOCAR FECHA]</a:t>
            </a:r>
          </a:p>
        </p:txBody>
      </p:sp>
      <p:sp>
        <p:nvSpPr>
          <p:cNvPr id="11" name="tcs-placeholder">
            <a:extLst xmlns:a="http://schemas.openxmlformats.org/drawingml/2006/main">
              <a:ext uri="{FF2B5EF4-FFF2-40B4-BE49-F238E27FC236}">
                <a16:creationId xmlns:a16="http://schemas.microsoft.com/office/drawing/2014/main" id="{0BCE486B-3C93-4272-85BB-D8A71540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8625"/>
            <a:ext cx="1190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D5FF"/>
            </a:solidFill>
            <a:prstDash val="solid"/>
          </a:ln>
        </p:spPr>
      </p:sp>
      <p:sp>
        <p:nvSpPr>
          <p:cNvPr id="12" name="tcs-placeholder-text">
            <a:extLst xmlns:a="http://schemas.openxmlformats.org/drawingml/2006/main">
              <a:ext uri="{FF2B5EF4-FFF2-40B4-BE49-F238E27FC236}">
                <a16:creationId xmlns:a16="http://schemas.microsoft.com/office/drawing/2014/main" id="{AEC7576A-F07A-4F77-81CD-E92D84B6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1500"/>
            <a:ext cx="962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426"/>
                </a:solidFill>
              </a:defRPr>
            </a:pPr>
            <a:r>
              <a:rPr sz="1050" b="1">
                <a:solidFill>
                  <a:srgbClr val="071426"/>
                </a:solidFill>
              </a:rPr>
              <a:t>LOGO TCS</a:t>
            </a:r>
          </a:p>
        </p:txBody>
      </p:sp>
    </p:spTree>
    <p:extLst>
      <p:ext uri="{BB962C8B-B14F-4D97-AF65-F5344CB8AC3E}">
        <p14:creationId xmlns:p14="http://schemas.microsoft.com/office/powerpoint/2010/main" val="878357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01 · Problema-kicker">
            <a:extLst xmlns:a="http://schemas.openxmlformats.org/drawingml/2006/main">
              <a:ext uri="{FF2B5EF4-FFF2-40B4-BE49-F238E27FC236}">
                <a16:creationId xmlns:a16="http://schemas.microsoft.com/office/drawing/2014/main" id="{7D353997-8AE2-44C0-BD5C-7260FBE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01 · PROBLEMA</a:t>
            </a:r>
          </a:p>
        </p:txBody>
      </p:sp>
      <p:sp>
        <p:nvSpPr>
          <p:cNvPr id="2" name="01 · Problema-heading">
            <a:extLst xmlns:a="http://schemas.openxmlformats.org/drawingml/2006/main">
              <a:ext uri="{FF2B5EF4-FFF2-40B4-BE49-F238E27FC236}">
                <a16:creationId xmlns:a16="http://schemas.microsoft.com/office/drawing/2014/main" id="{CAA654C5-3E04-4CBB-BAE2-A76FEAC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El análisis manual oculta señales que importan</a:t>
            </a:r>
          </a:p>
        </p:txBody>
      </p:sp>
      <p:sp>
        <p:nvSpPr>
          <p:cNvPr id="3" name="01 · Problema-rule">
            <a:extLst xmlns:a="http://schemas.openxmlformats.org/drawingml/2006/main">
              <a:ext uri="{FF2B5EF4-FFF2-40B4-BE49-F238E27FC236}">
                <a16:creationId xmlns:a16="http://schemas.microsoft.com/office/drawing/2014/main" id="{72B430A3-9409-478B-B1C7-DF8D85C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in-arrow-1-shaft">
            <a:extLst xmlns:a="http://schemas.openxmlformats.org/drawingml/2006/main">
              <a:ext uri="{FF2B5EF4-FFF2-40B4-BE49-F238E27FC236}">
                <a16:creationId xmlns:a16="http://schemas.microsoft.com/office/drawing/2014/main" id="{6A830E23-35A9-471F-B4FB-C78492DB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24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in-arrow-1-head">
            <a:extLst xmlns:a="http://schemas.openxmlformats.org/drawingml/2006/main">
              <a:ext uri="{FF2B5EF4-FFF2-40B4-BE49-F238E27FC236}">
                <a16:creationId xmlns:a16="http://schemas.microsoft.com/office/drawing/2014/main" id="{14146E6D-C13D-414E-A736-F2C75423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478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6" name="pain-arrow-2-shaft">
            <a:extLst xmlns:a="http://schemas.openxmlformats.org/drawingml/2006/main">
              <a:ext uri="{FF2B5EF4-FFF2-40B4-BE49-F238E27FC236}">
                <a16:creationId xmlns:a16="http://schemas.microsoft.com/office/drawing/2014/main" id="{2533F9D1-3A07-4106-B85C-CD0E02CE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24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in-arrow-2-head">
            <a:extLst xmlns:a="http://schemas.openxmlformats.org/drawingml/2006/main">
              <a:ext uri="{FF2B5EF4-FFF2-40B4-BE49-F238E27FC236}">
                <a16:creationId xmlns:a16="http://schemas.microsoft.com/office/drawing/2014/main" id="{AACB1B8C-6544-4F5B-B6EF-D59826F6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478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8" name="pain-arrow-3-shaft">
            <a:extLst xmlns:a="http://schemas.openxmlformats.org/drawingml/2006/main">
              <a:ext uri="{FF2B5EF4-FFF2-40B4-BE49-F238E27FC236}">
                <a16:creationId xmlns:a16="http://schemas.microsoft.com/office/drawing/2014/main" id="{76C83484-727F-4969-824C-A89E9B8D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n-arrow-3-head">
            <a:extLst xmlns:a="http://schemas.openxmlformats.org/drawingml/2006/main">
              <a:ext uri="{FF2B5EF4-FFF2-40B4-BE49-F238E27FC236}">
                <a16:creationId xmlns:a16="http://schemas.microsoft.com/office/drawing/2014/main" id="{0AC9AED5-EB3A-48CB-9C7E-98352985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478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0" name="stage-68">
            <a:extLst xmlns:a="http://schemas.openxmlformats.org/drawingml/2006/main">
              <a:ext uri="{FF2B5EF4-FFF2-40B4-BE49-F238E27FC236}">
                <a16:creationId xmlns:a16="http://schemas.microsoft.com/office/drawing/2014/main" id="{B3D60B2B-9258-40BA-A65D-585662DA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11" name="stage-line-68">
            <a:extLst xmlns:a="http://schemas.openxmlformats.org/drawingml/2006/main">
              <a:ext uri="{FF2B5EF4-FFF2-40B4-BE49-F238E27FC236}">
                <a16:creationId xmlns:a16="http://schemas.microsoft.com/office/drawing/2014/main" id="{EFA4640D-17C7-40F0-8583-2FA15A09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head-68">
            <a:extLst xmlns:a="http://schemas.openxmlformats.org/drawingml/2006/main">
              <a:ext uri="{FF2B5EF4-FFF2-40B4-BE49-F238E27FC236}">
                <a16:creationId xmlns:a16="http://schemas.microsoft.com/office/drawing/2014/main" id="{534BE6AA-BC5B-42AA-A378-F087C52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PDF extenso</a:t>
            </a:r>
          </a:p>
        </p:txBody>
      </p:sp>
      <p:sp>
        <p:nvSpPr>
          <p:cNvPr id="13" name="stage-sub-68">
            <a:extLst xmlns:a="http://schemas.openxmlformats.org/drawingml/2006/main">
              <a:ext uri="{FF2B5EF4-FFF2-40B4-BE49-F238E27FC236}">
                <a16:creationId xmlns:a16="http://schemas.microsoft.com/office/drawing/2014/main" id="{6D13E1FA-9640-4ABC-B5B4-58290D84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Cifras, notas y</a:t>
            </a:r>
          </a:p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lenguaje técnico</a:t>
            </a:r>
          </a:p>
        </p:txBody>
      </p:sp>
      <p:sp>
        <p:nvSpPr>
          <p:cNvPr id="14" name="stage-350">
            <a:extLst xmlns:a="http://schemas.openxmlformats.org/drawingml/2006/main">
              <a:ext uri="{FF2B5EF4-FFF2-40B4-BE49-F238E27FC236}">
                <a16:creationId xmlns:a16="http://schemas.microsoft.com/office/drawing/2014/main" id="{EC91E082-01EB-4B5B-A46C-BC4CAC3D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37D5FF"/>
            </a:solidFill>
            <a:prstDash val="solid"/>
          </a:ln>
        </p:spPr>
      </p:sp>
      <p:sp>
        <p:nvSpPr>
          <p:cNvPr id="15" name="stage-line-350">
            <a:extLst xmlns:a="http://schemas.openxmlformats.org/drawingml/2006/main">
              <a:ext uri="{FF2B5EF4-FFF2-40B4-BE49-F238E27FC236}">
                <a16:creationId xmlns:a16="http://schemas.microsoft.com/office/drawing/2014/main" id="{9D626B1D-EE28-48A8-917A-49886A5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head-350">
            <a:extLst xmlns:a="http://schemas.openxmlformats.org/drawingml/2006/main">
              <a:ext uri="{FF2B5EF4-FFF2-40B4-BE49-F238E27FC236}">
                <a16:creationId xmlns:a16="http://schemas.microsoft.com/office/drawing/2014/main" id="{8B8DD688-2E11-4269-AFE7-3CA7784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Búsqueda manual</a:t>
            </a:r>
          </a:p>
        </p:txBody>
      </p:sp>
      <p:sp>
        <p:nvSpPr>
          <p:cNvPr id="17" name="stage-sub-350">
            <a:extLst xmlns:a="http://schemas.openxmlformats.org/drawingml/2006/main">
              <a:ext uri="{FF2B5EF4-FFF2-40B4-BE49-F238E27FC236}">
                <a16:creationId xmlns:a16="http://schemas.microsoft.com/office/drawing/2014/main" id="{F73A4D33-6D26-45A4-BB3B-61CE99F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Ubicar los datos</a:t>
            </a:r>
          </a:p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correctos</a:t>
            </a:r>
          </a:p>
        </p:txBody>
      </p:sp>
      <p:sp>
        <p:nvSpPr>
          <p:cNvPr id="18" name="stage-632">
            <a:extLst xmlns:a="http://schemas.openxmlformats.org/drawingml/2006/main">
              <a:ext uri="{FF2B5EF4-FFF2-40B4-BE49-F238E27FC236}">
                <a16:creationId xmlns:a16="http://schemas.microsoft.com/office/drawing/2014/main" id="{C479B476-398F-4F19-8307-6E33E2E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9" name="stage-line-632">
            <a:extLst xmlns:a="http://schemas.openxmlformats.org/drawingml/2006/main">
              <a:ext uri="{FF2B5EF4-FFF2-40B4-BE49-F238E27FC236}">
                <a16:creationId xmlns:a16="http://schemas.microsoft.com/office/drawing/2014/main" id="{ADFDB2E9-1398-44EE-9DF1-E8FF378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head-632">
            <a:extLst xmlns:a="http://schemas.openxmlformats.org/drawingml/2006/main">
              <a:ext uri="{FF2B5EF4-FFF2-40B4-BE49-F238E27FC236}">
                <a16:creationId xmlns:a16="http://schemas.microsoft.com/office/drawing/2014/main" id="{42E30CF2-56BE-4FAA-8DBA-54A649C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Cálculo de ratios</a:t>
            </a:r>
          </a:p>
        </p:txBody>
      </p:sp>
      <p:sp>
        <p:nvSpPr>
          <p:cNvPr id="21" name="stage-sub-632">
            <a:extLst xmlns:a="http://schemas.openxmlformats.org/drawingml/2006/main">
              <a:ext uri="{FF2B5EF4-FFF2-40B4-BE49-F238E27FC236}">
                <a16:creationId xmlns:a16="http://schemas.microsoft.com/office/drawing/2014/main" id="{E619738A-81FB-425A-B7E2-27DFBEF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Procesos separados</a:t>
            </a:r>
          </a:p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y repetitivos</a:t>
            </a:r>
          </a:p>
        </p:txBody>
      </p:sp>
      <p:sp>
        <p:nvSpPr>
          <p:cNvPr id="22" name="stage-914">
            <a:extLst xmlns:a="http://schemas.openxmlformats.org/drawingml/2006/main">
              <a:ext uri="{FF2B5EF4-FFF2-40B4-BE49-F238E27FC236}">
                <a16:creationId xmlns:a16="http://schemas.microsoft.com/office/drawing/2014/main" id="{D1142A07-7072-4ED4-BC5D-74350B12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23" name="stage-line-914">
            <a:extLst xmlns:a="http://schemas.openxmlformats.org/drawingml/2006/main">
              <a:ext uri="{FF2B5EF4-FFF2-40B4-BE49-F238E27FC236}">
                <a16:creationId xmlns:a16="http://schemas.microsoft.com/office/drawing/2014/main" id="{D6E57EF4-EA4B-453B-812C-1F077A72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ge-head-914">
            <a:extLst xmlns:a="http://schemas.openxmlformats.org/drawingml/2006/main">
              <a:ext uri="{FF2B5EF4-FFF2-40B4-BE49-F238E27FC236}">
                <a16:creationId xmlns:a16="http://schemas.microsoft.com/office/drawing/2014/main" id="{3C6DF647-9735-476C-A663-504C0731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Riesgo de omisión</a:t>
            </a:r>
          </a:p>
        </p:txBody>
      </p:sp>
      <p:sp>
        <p:nvSpPr>
          <p:cNvPr id="25" name="stage-sub-914">
            <a:extLst xmlns:a="http://schemas.openxmlformats.org/drawingml/2006/main">
              <a:ext uri="{FF2B5EF4-FFF2-40B4-BE49-F238E27FC236}">
                <a16:creationId xmlns:a16="http://schemas.microsoft.com/office/drawing/2014/main" id="{793366A1-22FF-4496-AE93-DCC85F1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Liquidez, deuda</a:t>
            </a:r>
          </a:p>
          <a:p xmlns:a="http://schemas.openxmlformats.org/drawingml/2006/main">
            <a:pPr algn="ctr"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o rentabilidad</a:t>
            </a:r>
          </a:p>
        </p:txBody>
      </p:sp>
      <p:sp>
        <p:nvSpPr>
          <p:cNvPr id="26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5F14E54B-28D3-4C46-AFFD-B165881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ANTES</a:t>
            </a:r>
          </a:p>
        </p:txBody>
      </p:sp>
      <p:sp>
        <p:nvSpPr>
          <p:cNvPr id="27" name="before-list">
            <a:extLst xmlns:a="http://schemas.openxmlformats.org/drawingml/2006/main">
              <a:ext uri="{FF2B5EF4-FFF2-40B4-BE49-F238E27FC236}">
                <a16:creationId xmlns:a16="http://schemas.microsoft.com/office/drawing/2014/main" id="{8F02AA93-8E5E-45B1-A4E9-BD75FF3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Revisión manual</a:t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Cálculos separados</a:t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Más tiempo y posibilidad de error</a:t>
            </a:r>
          </a:p>
        </p:txBody>
      </p:sp>
      <p:sp>
        <p:nvSpPr>
          <p:cNvPr id="2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4FD25850-F1BD-4B68-9040-D0164DF3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fter-title">
            <a:extLst xmlns:a="http://schemas.openxmlformats.org/drawingml/2006/main">
              <a:ext uri="{FF2B5EF4-FFF2-40B4-BE49-F238E27FC236}">
                <a16:creationId xmlns:a16="http://schemas.microsoft.com/office/drawing/2014/main" id="{25F92FA0-5CF4-4F0A-BDD4-087482F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24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D99A"/>
                </a:solidFill>
              </a:defRPr>
            </a:pPr>
            <a:r>
              <a:rPr sz="1500" b="1">
                <a:solidFill>
                  <a:srgbClr val="26D99A"/>
                </a:solidFill>
              </a:rPr>
              <a:t>CON EL AGENTE</a:t>
            </a:r>
          </a:p>
        </p:txBody>
      </p:sp>
      <p:sp>
        <p:nvSpPr>
          <p:cNvPr id="30" name="after-list">
            <a:extLst xmlns:a="http://schemas.openxmlformats.org/drawingml/2006/main">
              <a:ext uri="{FF2B5EF4-FFF2-40B4-BE49-F238E27FC236}">
                <a16:creationId xmlns:a16="http://schemas.microsoft.com/office/drawing/2014/main" id="{2FBE6712-39B3-4B03-AE6B-1C9DA2E5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242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Extracción normal u OCR</a:t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Indicadores y alertas automáticas</a:t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Preguntas respondidas con evidencia</a:t>
            </a:r>
          </a:p>
        </p:txBody>
      </p:sp>
      <p:sp>
        <p:nvSpPr>
          <p:cNvPr id="31" name="opportunity-band">
            <a:extLst xmlns:a="http://schemas.openxmlformats.org/drawingml/2006/main">
              <a:ext uri="{FF2B5EF4-FFF2-40B4-BE49-F238E27FC236}">
                <a16:creationId xmlns:a16="http://schemas.microsoft.com/office/drawing/2014/main" id="{8F9DBC97-5E9E-447F-B4B9-A997001B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1536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168BFF"/>
            </a:solidFill>
            <a:prstDash val="solid"/>
          </a:ln>
        </p:spPr>
      </p:sp>
      <p:sp>
        <p:nvSpPr>
          <p:cNvPr id="32" name="opportunity-label">
            <a:extLst xmlns:a="http://schemas.openxmlformats.org/drawingml/2006/main">
              <a:ext uri="{FF2B5EF4-FFF2-40B4-BE49-F238E27FC236}">
                <a16:creationId xmlns:a16="http://schemas.microsoft.com/office/drawing/2014/main" id="{DEBCCFC4-9FAB-4F87-8ACD-8EA4763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05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D5FF"/>
                </a:solidFill>
              </a:defRPr>
            </a:pPr>
            <a:r>
              <a:rPr sz="1275" b="1">
                <a:solidFill>
                  <a:srgbClr val="37D5FF"/>
                </a:solidFill>
              </a:rPr>
              <a:t>OPORTUNIDAD</a:t>
            </a:r>
          </a:p>
        </p:txBody>
      </p:sp>
      <p:sp>
        <p:nvSpPr>
          <p:cNvPr id="33" name="opportunity-copy">
            <a:extLst xmlns:a="http://schemas.openxmlformats.org/drawingml/2006/main">
              <a:ext uri="{FF2B5EF4-FFF2-40B4-BE49-F238E27FC236}">
                <a16:creationId xmlns:a16="http://schemas.microsoft.com/office/drawing/2014/main" id="{B2077E08-0CCA-4FED-9629-20ABF488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673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Tomar decisiones en menos tiempo, con indicadores verificables y evidencia del documento.</a:t>
            </a:r>
          </a:p>
        </p:txBody>
      </p:sp>
      <p:sp>
        <p:nvSpPr>
          <p:cNvPr id="34" name="footer-2">
            <a:extLst xmlns:a="http://schemas.openxmlformats.org/drawingml/2006/main">
              <a:ext uri="{FF2B5EF4-FFF2-40B4-BE49-F238E27FC236}">
                <a16:creationId xmlns:a16="http://schemas.microsoft.com/office/drawing/2014/main" id="{38B98F25-192D-4232-BD93-6EBA12B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F87"/>
                </a:solidFill>
              </a:defRPr>
            </a:pPr>
            <a:r>
              <a:rPr sz="825" b="1">
                <a:solidFill>
                  <a:srgbClr val="5B6F87"/>
                </a:solidFill>
              </a:rPr>
              <a:t>AGENTE DE RIESGO FINANCIERO</a:t>
            </a:r>
          </a:p>
        </p:txBody>
      </p:sp>
      <p:sp>
        <p:nvSpPr>
          <p:cNvPr id="35" name="page-2">
            <a:extLst xmlns:a="http://schemas.openxmlformats.org/drawingml/2006/main">
              <a:ext uri="{FF2B5EF4-FFF2-40B4-BE49-F238E27FC236}">
                <a16:creationId xmlns:a16="http://schemas.microsoft.com/office/drawing/2014/main" id="{6D82B8EC-33E5-44D5-BFAF-A158EBF3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F87"/>
                </a:solidFill>
              </a:defRPr>
            </a:pPr>
            <a:r>
              <a:rPr sz="975" b="1">
                <a:solidFill>
                  <a:srgbClr val="5B6F8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3025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02 · Stack-kicker">
            <a:extLst xmlns:a="http://schemas.openxmlformats.org/drawingml/2006/main">
              <a:ext uri="{FF2B5EF4-FFF2-40B4-BE49-F238E27FC236}">
                <a16:creationId xmlns:a16="http://schemas.microsoft.com/office/drawing/2014/main" id="{FA58E06E-65B5-43E0-A671-8BE12372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D5FF"/>
                </a:solidFill>
              </a:defRPr>
            </a:pPr>
            <a:r>
              <a:rPr sz="1200" b="1">
                <a:solidFill>
                  <a:srgbClr val="37D5FF"/>
                </a:solidFill>
              </a:rPr>
              <a:t>02 · STACK</a:t>
            </a:r>
          </a:p>
        </p:txBody>
      </p:sp>
      <p:sp>
        <p:nvSpPr>
          <p:cNvPr id="2" name="02 · Stack-heading">
            <a:extLst xmlns:a="http://schemas.openxmlformats.org/drawingml/2006/main">
              <a:ext uri="{FF2B5EF4-FFF2-40B4-BE49-F238E27FC236}">
                <a16:creationId xmlns:a16="http://schemas.microsoft.com/office/drawing/2014/main" id="{54D3041F-6774-4251-8457-478BF2E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F"/>
                </a:solidFill>
              </a:defRPr>
            </a:pPr>
            <a:r>
              <a:rPr sz="2850" b="1">
                <a:solidFill>
                  <a:srgbClr val="F7FBFF"/>
                </a:solidFill>
              </a:rPr>
              <a:t>Cada tecnología cumple una función concreta</a:t>
            </a:r>
          </a:p>
        </p:txBody>
      </p:sp>
      <p:sp>
        <p:nvSpPr>
          <p:cNvPr id="3" name="02 · Stack-rule">
            <a:extLst xmlns:a="http://schemas.openxmlformats.org/drawingml/2006/main">
              <a:ext uri="{FF2B5EF4-FFF2-40B4-BE49-F238E27FC236}">
                <a16:creationId xmlns:a16="http://schemas.microsoft.com/office/drawing/2014/main" id="{05A33035-F964-4622-A48A-5B016DDC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oup-EXPERIENCIA">
            <a:extLst xmlns:a="http://schemas.openxmlformats.org/drawingml/2006/main">
              <a:ext uri="{FF2B5EF4-FFF2-40B4-BE49-F238E27FC236}">
                <a16:creationId xmlns:a16="http://schemas.microsoft.com/office/drawing/2014/main" id="{9C7B3A49-67A2-463E-A657-256C3B2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D5FF"/>
                </a:solidFill>
              </a:defRPr>
            </a:pPr>
            <a:r>
              <a:rPr sz="1200" b="1">
                <a:solidFill>
                  <a:srgbClr val="37D5FF"/>
                </a:solidFill>
              </a:rPr>
              <a:t>EXPERIENCIA</a:t>
            </a:r>
          </a:p>
        </p:txBody>
      </p:sp>
      <p:sp>
        <p:nvSpPr>
          <p:cNvPr id="5" name="group-rule-EXPERIENCIA">
            <a:extLst xmlns:a="http://schemas.openxmlformats.org/drawingml/2006/main">
              <a:ext uri="{FF2B5EF4-FFF2-40B4-BE49-F238E27FC236}">
                <a16:creationId xmlns:a16="http://schemas.microsoft.com/office/drawing/2014/main" id="{4DE6FA3D-9C1A-4887-B000-9FC32F66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ch-name-Streamlit">
            <a:extLst xmlns:a="http://schemas.openxmlformats.org/drawingml/2006/main">
              <a:ext uri="{FF2B5EF4-FFF2-40B4-BE49-F238E27FC236}">
                <a16:creationId xmlns:a16="http://schemas.microsoft.com/office/drawing/2014/main" id="{69CF659A-BD37-4731-AC8F-A67EAF2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Streamlit</a:t>
            </a:r>
          </a:p>
        </p:txBody>
      </p:sp>
      <p:sp>
        <p:nvSpPr>
          <p:cNvPr id="7" name="tech-role-Streamlit">
            <a:extLst xmlns:a="http://schemas.openxmlformats.org/drawingml/2006/main">
              <a:ext uri="{FF2B5EF4-FFF2-40B4-BE49-F238E27FC236}">
                <a16:creationId xmlns:a16="http://schemas.microsoft.com/office/drawing/2014/main" id="{823DE97A-4731-4E4A-968A-0A73FE2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Interfaz y dashboard</a:t>
            </a:r>
          </a:p>
        </p:txBody>
      </p:sp>
      <p:sp>
        <p:nvSpPr>
          <p:cNvPr id="8" name="tech-rule-Streamlit">
            <a:extLst xmlns:a="http://schemas.openxmlformats.org/drawingml/2006/main">
              <a:ext uri="{FF2B5EF4-FFF2-40B4-BE49-F238E27FC236}">
                <a16:creationId xmlns:a16="http://schemas.microsoft.com/office/drawing/2014/main" id="{41DB56A7-8BEF-4B9D-A0EE-768E723F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ch-name-Altair">
            <a:extLst xmlns:a="http://schemas.openxmlformats.org/drawingml/2006/main">
              <a:ext uri="{FF2B5EF4-FFF2-40B4-BE49-F238E27FC236}">
                <a16:creationId xmlns:a16="http://schemas.microsoft.com/office/drawing/2014/main" id="{9A711F82-5BED-4247-B0CC-777F5737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Altair</a:t>
            </a:r>
          </a:p>
        </p:txBody>
      </p:sp>
      <p:sp>
        <p:nvSpPr>
          <p:cNvPr id="10" name="tech-role-Altair">
            <a:extLst xmlns:a="http://schemas.openxmlformats.org/drawingml/2006/main">
              <a:ext uri="{FF2B5EF4-FFF2-40B4-BE49-F238E27FC236}">
                <a16:creationId xmlns:a16="http://schemas.microsoft.com/office/drawing/2014/main" id="{C1B8AFFA-32DC-4B9C-93AD-877E245A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Gráficos interactivos</a:t>
            </a:r>
          </a:p>
        </p:txBody>
      </p:sp>
      <p:sp>
        <p:nvSpPr>
          <p:cNvPr id="11" name="tech-rule-Altair">
            <a:extLst xmlns:a="http://schemas.openxmlformats.org/drawingml/2006/main">
              <a:ext uri="{FF2B5EF4-FFF2-40B4-BE49-F238E27FC236}">
                <a16:creationId xmlns:a16="http://schemas.microsoft.com/office/drawing/2014/main" id="{5FAC196E-75C6-4ED6-A392-37B329B1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ch-name-ReportLab + Gmail">
            <a:extLst xmlns:a="http://schemas.openxmlformats.org/drawingml/2006/main">
              <a:ext uri="{FF2B5EF4-FFF2-40B4-BE49-F238E27FC236}">
                <a16:creationId xmlns:a16="http://schemas.microsoft.com/office/drawing/2014/main" id="{BCE66715-9E5C-4D07-9935-8F35C0B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ReportLab + Gmail</a:t>
            </a:r>
          </a:p>
        </p:txBody>
      </p:sp>
      <p:sp>
        <p:nvSpPr>
          <p:cNvPr id="13" name="tech-role-ReportLab + Gmail">
            <a:extLst xmlns:a="http://schemas.openxmlformats.org/drawingml/2006/main">
              <a:ext uri="{FF2B5EF4-FFF2-40B4-BE49-F238E27FC236}">
                <a16:creationId xmlns:a16="http://schemas.microsoft.com/office/drawing/2014/main" id="{7211585D-3A48-4686-929B-3AF0578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Reportes PDF/CSV y envío</a:t>
            </a:r>
          </a:p>
        </p:txBody>
      </p:sp>
      <p:sp>
        <p:nvSpPr>
          <p:cNvPr id="14" name="tech-rule-ReportLab + Gmail">
            <a:extLst xmlns:a="http://schemas.openxmlformats.org/drawingml/2006/main">
              <a:ext uri="{FF2B5EF4-FFF2-40B4-BE49-F238E27FC236}">
                <a16:creationId xmlns:a16="http://schemas.microsoft.com/office/drawing/2014/main" id="{ED451623-9D8B-4755-8377-3F1E494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oup-AGENTE Y DATOS">
            <a:extLst xmlns:a="http://schemas.openxmlformats.org/drawingml/2006/main">
              <a:ext uri="{FF2B5EF4-FFF2-40B4-BE49-F238E27FC236}">
                <a16:creationId xmlns:a16="http://schemas.microsoft.com/office/drawing/2014/main" id="{A76486DD-1D14-4DAC-A868-67F3467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62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AGENTE Y DATOS</a:t>
            </a:r>
          </a:p>
        </p:txBody>
      </p:sp>
      <p:sp>
        <p:nvSpPr>
          <p:cNvPr id="16" name="group-rule-AGENTE Y DATOS">
            <a:extLst xmlns:a="http://schemas.openxmlformats.org/drawingml/2006/main">
              <a:ext uri="{FF2B5EF4-FFF2-40B4-BE49-F238E27FC236}">
                <a16:creationId xmlns:a16="http://schemas.microsoft.com/office/drawing/2014/main" id="{C9E9D030-CA2C-48A5-BF21-B85F2FA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764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ch-name-FastAPI">
            <a:extLst xmlns:a="http://schemas.openxmlformats.org/drawingml/2006/main">
              <a:ext uri="{FF2B5EF4-FFF2-40B4-BE49-F238E27FC236}">
                <a16:creationId xmlns:a16="http://schemas.microsoft.com/office/drawing/2014/main" id="{E2F69F5F-E25A-4F47-85D6-087E69E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33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FastAPI</a:t>
            </a:r>
          </a:p>
        </p:txBody>
      </p:sp>
      <p:sp>
        <p:nvSpPr>
          <p:cNvPr id="18" name="tech-role-FastAPI">
            <a:extLst xmlns:a="http://schemas.openxmlformats.org/drawingml/2006/main">
              <a:ext uri="{FF2B5EF4-FFF2-40B4-BE49-F238E27FC236}">
                <a16:creationId xmlns:a16="http://schemas.microsoft.com/office/drawing/2014/main" id="{AA39B5E0-D5AB-478D-9F15-B052D02B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API REST y backend</a:t>
            </a:r>
          </a:p>
        </p:txBody>
      </p:sp>
      <p:sp>
        <p:nvSpPr>
          <p:cNvPr id="19" name="tech-rule-FastAPI">
            <a:extLst xmlns:a="http://schemas.openxmlformats.org/drawingml/2006/main">
              <a:ext uri="{FF2B5EF4-FFF2-40B4-BE49-F238E27FC236}">
                <a16:creationId xmlns:a16="http://schemas.microsoft.com/office/drawing/2014/main" id="{4AF1B6EE-BD82-41B2-A59A-83929821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908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ch-name-LangGraph">
            <a:extLst xmlns:a="http://schemas.openxmlformats.org/drawingml/2006/main">
              <a:ext uri="{FF2B5EF4-FFF2-40B4-BE49-F238E27FC236}">
                <a16:creationId xmlns:a16="http://schemas.microsoft.com/office/drawing/2014/main" id="{BC971761-38E9-47C8-BEE5-54CF88B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622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LangGraph</a:t>
            </a:r>
          </a:p>
        </p:txBody>
      </p:sp>
      <p:sp>
        <p:nvSpPr>
          <p:cNvPr id="21" name="tech-role-LangGraph">
            <a:extLst xmlns:a="http://schemas.openxmlformats.org/drawingml/2006/main">
              <a:ext uri="{FF2B5EF4-FFF2-40B4-BE49-F238E27FC236}">
                <a16:creationId xmlns:a16="http://schemas.microsoft.com/office/drawing/2014/main" id="{8C6286A2-24A7-495C-BA77-FB9B02D4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Grafos de estado</a:t>
            </a:r>
          </a:p>
        </p:txBody>
      </p:sp>
      <p:sp>
        <p:nvSpPr>
          <p:cNvPr id="22" name="tech-rule-LangGraph">
            <a:extLst xmlns:a="http://schemas.openxmlformats.org/drawingml/2006/main">
              <a:ext uri="{FF2B5EF4-FFF2-40B4-BE49-F238E27FC236}">
                <a16:creationId xmlns:a16="http://schemas.microsoft.com/office/drawing/2014/main" id="{5BACD01A-3873-4E68-BFC7-95CCD6E2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ch-name-Gemini">
            <a:extLst xmlns:a="http://schemas.openxmlformats.org/drawingml/2006/main">
              <a:ext uri="{FF2B5EF4-FFF2-40B4-BE49-F238E27FC236}">
                <a16:creationId xmlns:a16="http://schemas.microsoft.com/office/drawing/2014/main" id="{A9975255-7250-4709-8AC0-9364C2BB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Gemini</a:t>
            </a:r>
          </a:p>
        </p:txBody>
      </p:sp>
      <p:sp>
        <p:nvSpPr>
          <p:cNvPr id="24" name="tech-role-Gemini">
            <a:extLst xmlns:a="http://schemas.openxmlformats.org/drawingml/2006/main">
              <a:ext uri="{FF2B5EF4-FFF2-40B4-BE49-F238E27FC236}">
                <a16:creationId xmlns:a16="http://schemas.microsoft.com/office/drawing/2014/main" id="{0E46429E-0F6B-4800-995C-960CA2A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86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OCR, extracción, RAG y resumen</a:t>
            </a:r>
          </a:p>
        </p:txBody>
      </p:sp>
      <p:sp>
        <p:nvSpPr>
          <p:cNvPr id="25" name="tech-rule-Gemini">
            <a:extLst xmlns:a="http://schemas.openxmlformats.org/drawingml/2006/main">
              <a:ext uri="{FF2B5EF4-FFF2-40B4-BE49-F238E27FC236}">
                <a16:creationId xmlns:a16="http://schemas.microsoft.com/office/drawing/2014/main" id="{2C6ACA43-42A3-4A27-882E-A773B378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481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ch-name-SQLite">
            <a:extLst xmlns:a="http://schemas.openxmlformats.org/drawingml/2006/main">
              <a:ext uri="{FF2B5EF4-FFF2-40B4-BE49-F238E27FC236}">
                <a16:creationId xmlns:a16="http://schemas.microsoft.com/office/drawing/2014/main" id="{3872DD90-21F6-46F8-B2FE-3B513A58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196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SQLite</a:t>
            </a:r>
          </a:p>
        </p:txBody>
      </p:sp>
      <p:sp>
        <p:nvSpPr>
          <p:cNvPr id="27" name="tech-role-SQLite">
            <a:extLst xmlns:a="http://schemas.openxmlformats.org/drawingml/2006/main">
              <a:ext uri="{FF2B5EF4-FFF2-40B4-BE49-F238E27FC236}">
                <a16:creationId xmlns:a16="http://schemas.microsoft.com/office/drawing/2014/main" id="{62576767-D7BC-4847-BA6B-1065910E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14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Usuarios, sesiones y análisis</a:t>
            </a:r>
          </a:p>
        </p:txBody>
      </p:sp>
      <p:sp>
        <p:nvSpPr>
          <p:cNvPr id="28" name="tech-rule-SQLite">
            <a:extLst xmlns:a="http://schemas.openxmlformats.org/drawingml/2006/main">
              <a:ext uri="{FF2B5EF4-FFF2-40B4-BE49-F238E27FC236}">
                <a16:creationId xmlns:a16="http://schemas.microsoft.com/office/drawing/2014/main" id="{AB00381B-B7B6-47A0-AA4B-9DFC78C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76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oup-CONFIANZA">
            <a:extLst xmlns:a="http://schemas.openxmlformats.org/drawingml/2006/main">
              <a:ext uri="{FF2B5EF4-FFF2-40B4-BE49-F238E27FC236}">
                <a16:creationId xmlns:a16="http://schemas.microsoft.com/office/drawing/2014/main" id="{C401654E-644B-427E-B911-643FE548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62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9A"/>
                </a:solidFill>
              </a:defRPr>
            </a:pPr>
            <a:r>
              <a:rPr sz="1200" b="1">
                <a:solidFill>
                  <a:srgbClr val="26D99A"/>
                </a:solidFill>
              </a:rPr>
              <a:t>CONFIANZA</a:t>
            </a:r>
          </a:p>
        </p:txBody>
      </p:sp>
      <p:sp>
        <p:nvSpPr>
          <p:cNvPr id="30" name="group-rule-CONFIANZA">
            <a:extLst xmlns:a="http://schemas.openxmlformats.org/drawingml/2006/main">
              <a:ext uri="{FF2B5EF4-FFF2-40B4-BE49-F238E27FC236}">
                <a16:creationId xmlns:a16="http://schemas.microsoft.com/office/drawing/2014/main" id="{AC060F8A-00FB-4CD4-A567-C512BB6E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764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ch-name-MLflow">
            <a:extLst xmlns:a="http://schemas.openxmlformats.org/drawingml/2006/main">
              <a:ext uri="{FF2B5EF4-FFF2-40B4-BE49-F238E27FC236}">
                <a16:creationId xmlns:a16="http://schemas.microsoft.com/office/drawing/2014/main" id="{C50960F4-EF50-46C2-BF8E-1D52D5BD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MLflow</a:t>
            </a:r>
          </a:p>
        </p:txBody>
      </p:sp>
      <p:sp>
        <p:nvSpPr>
          <p:cNvPr id="32" name="tech-role-MLflow">
            <a:extLst xmlns:a="http://schemas.openxmlformats.org/drawingml/2006/main">
              <a:ext uri="{FF2B5EF4-FFF2-40B4-BE49-F238E27FC236}">
                <a16:creationId xmlns:a16="http://schemas.microsoft.com/office/drawing/2014/main" id="{EA9702FE-8E22-4B73-8037-961D0B5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Trazas, tiempos y errores</a:t>
            </a:r>
          </a:p>
        </p:txBody>
      </p:sp>
      <p:sp>
        <p:nvSpPr>
          <p:cNvPr id="33" name="tech-rule-MLflow">
            <a:extLst xmlns:a="http://schemas.openxmlformats.org/drawingml/2006/main">
              <a:ext uri="{FF2B5EF4-FFF2-40B4-BE49-F238E27FC236}">
                <a16:creationId xmlns:a16="http://schemas.microsoft.com/office/drawing/2014/main" id="{2CFA7C19-98D8-464D-8896-E65A0FD9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908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ch-name-JWT + bcrypt + RBAC">
            <a:extLst xmlns:a="http://schemas.openxmlformats.org/drawingml/2006/main">
              <a:ext uri="{FF2B5EF4-FFF2-40B4-BE49-F238E27FC236}">
                <a16:creationId xmlns:a16="http://schemas.microsoft.com/office/drawing/2014/main" id="{4CB0C14A-7A03-411D-963C-17CDFB35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JWT + bcrypt + RBAC</a:t>
            </a:r>
          </a:p>
        </p:txBody>
      </p:sp>
      <p:sp>
        <p:nvSpPr>
          <p:cNvPr id="35" name="tech-role-JWT + bcrypt + RBAC">
            <a:extLst xmlns:a="http://schemas.openxmlformats.org/drawingml/2006/main">
              <a:ext uri="{FF2B5EF4-FFF2-40B4-BE49-F238E27FC236}">
                <a16:creationId xmlns:a16="http://schemas.microsoft.com/office/drawing/2014/main" id="{13552DAA-80C0-46F2-82F6-5A54148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Acceso seguro por roles</a:t>
            </a:r>
          </a:p>
        </p:txBody>
      </p:sp>
      <p:sp>
        <p:nvSpPr>
          <p:cNvPr id="36" name="tech-rule-JWT + bcrypt + RBAC">
            <a:extLst xmlns:a="http://schemas.openxmlformats.org/drawingml/2006/main">
              <a:ext uri="{FF2B5EF4-FFF2-40B4-BE49-F238E27FC236}">
                <a16:creationId xmlns:a16="http://schemas.microsoft.com/office/drawing/2014/main" id="{51342D6C-59E3-46E0-B8EE-D39BFB2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ch-name-pytest">
            <a:extLst xmlns:a="http://schemas.openxmlformats.org/drawingml/2006/main">
              <a:ext uri="{FF2B5EF4-FFF2-40B4-BE49-F238E27FC236}">
                <a16:creationId xmlns:a16="http://schemas.microsoft.com/office/drawing/2014/main" id="{D9AC6ACB-ACFB-4EE3-9E5D-50AB2C6E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pytest</a:t>
            </a:r>
          </a:p>
        </p:txBody>
      </p:sp>
      <p:sp>
        <p:nvSpPr>
          <p:cNvPr id="38" name="tech-role-pytest">
            <a:extLst xmlns:a="http://schemas.openxmlformats.org/drawingml/2006/main">
              <a:ext uri="{FF2B5EF4-FFF2-40B4-BE49-F238E27FC236}">
                <a16:creationId xmlns:a16="http://schemas.microsoft.com/office/drawing/2014/main" id="{CAB48EC8-7160-4965-B8A0-BC457CD2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86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Validación automática</a:t>
            </a:r>
          </a:p>
        </p:txBody>
      </p:sp>
      <p:sp>
        <p:nvSpPr>
          <p:cNvPr id="39" name="tech-rule-pytest">
            <a:extLst xmlns:a="http://schemas.openxmlformats.org/drawingml/2006/main">
              <a:ext uri="{FF2B5EF4-FFF2-40B4-BE49-F238E27FC236}">
                <a16:creationId xmlns:a16="http://schemas.microsoft.com/office/drawing/2014/main" id="{6CF58064-6606-4F4F-86D7-56E0FCB2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481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eterministic-note">
            <a:extLst xmlns:a="http://schemas.openxmlformats.org/drawingml/2006/main">
              <a:ext uri="{FF2B5EF4-FFF2-40B4-BE49-F238E27FC236}">
                <a16:creationId xmlns:a16="http://schemas.microsoft.com/office/drawing/2014/main" id="{AA6AEE88-DECC-4E62-8DC8-3E4AFFA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896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C4D"/>
          </a:solidFill>
          <a:ln xmlns:a="http://schemas.openxmlformats.org/drawingml/2006/main" w="9525">
            <a:solidFill>
              <a:srgbClr val="37D5FF"/>
            </a:solidFill>
            <a:prstDash val="solid"/>
          </a:ln>
        </p:spPr>
      </p:sp>
      <p:sp>
        <p:nvSpPr>
          <p:cNvPr id="41" name="deterministic-note-text">
            <a:extLst xmlns:a="http://schemas.openxmlformats.org/drawingml/2006/main">
              <a:ext uri="{FF2B5EF4-FFF2-40B4-BE49-F238E27FC236}">
                <a16:creationId xmlns:a16="http://schemas.microsoft.com/office/drawing/2014/main" id="{968AEA7C-E369-4830-84DE-8DF081C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0072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BFF"/>
                </a:solidFill>
              </a:defRPr>
            </a:pPr>
            <a:r>
              <a:rPr sz="1425" b="1">
                <a:solidFill>
                  <a:srgbClr val="F7FBFF"/>
                </a:solidFill>
              </a:rPr>
              <a:t>Python calcula los indicadores; Gemini extrae, interpreta y explica. La IA no sustituye el cálculo determinístico.</a:t>
            </a:r>
          </a:p>
        </p:txBody>
      </p:sp>
      <p:sp>
        <p:nvSpPr>
          <p:cNvPr id="42" name="footer-3">
            <a:extLst xmlns:a="http://schemas.openxmlformats.org/drawingml/2006/main">
              <a:ext uri="{FF2B5EF4-FFF2-40B4-BE49-F238E27FC236}">
                <a16:creationId xmlns:a16="http://schemas.microsoft.com/office/drawing/2014/main" id="{959A4355-8587-422F-A255-0BF1BB85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5DC"/>
                </a:solidFill>
              </a:defRPr>
            </a:pPr>
            <a:r>
              <a:rPr sz="825" b="1">
                <a:solidFill>
                  <a:srgbClr val="AFC5DC"/>
                </a:solidFill>
              </a:rPr>
              <a:t>AGENTE DE RIESGO FINANCIERO</a:t>
            </a:r>
          </a:p>
        </p:txBody>
      </p:sp>
      <p:sp>
        <p:nvSpPr>
          <p:cNvPr id="43" name="page-3">
            <a:extLst xmlns:a="http://schemas.openxmlformats.org/drawingml/2006/main">
              <a:ext uri="{FF2B5EF4-FFF2-40B4-BE49-F238E27FC236}">
                <a16:creationId xmlns:a16="http://schemas.microsoft.com/office/drawing/2014/main" id="{B7CA5741-BBF1-4C7B-A4D1-EA9D421A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5DC"/>
                </a:solidFill>
              </a:defRPr>
            </a:pPr>
            <a:r>
              <a:rPr sz="975" b="1">
                <a:solidFill>
                  <a:srgbClr val="AFC5D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1150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03 · Arquitectura-kicker">
            <a:extLst xmlns:a="http://schemas.openxmlformats.org/drawingml/2006/main">
              <a:ext uri="{FF2B5EF4-FFF2-40B4-BE49-F238E27FC236}">
                <a16:creationId xmlns:a16="http://schemas.microsoft.com/office/drawing/2014/main" id="{5D36479C-3C56-4B6D-81F4-92762596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03 · ARQUITECTURA</a:t>
            </a:r>
          </a:p>
        </p:txBody>
      </p:sp>
      <p:sp>
        <p:nvSpPr>
          <p:cNvPr id="2" name="03 · Arquitectura-heading">
            <a:extLst xmlns:a="http://schemas.openxmlformats.org/drawingml/2006/main">
              <a:ext uri="{FF2B5EF4-FFF2-40B4-BE49-F238E27FC236}">
                <a16:creationId xmlns:a16="http://schemas.microsoft.com/office/drawing/2014/main" id="{F97A43BA-B969-4EE0-8A35-B2B6504C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LangGraph convierte el análisis en un flujo controlado</a:t>
            </a:r>
          </a:p>
        </p:txBody>
      </p:sp>
      <p:sp>
        <p:nvSpPr>
          <p:cNvPr id="3" name="03 · Arquitectura-rule">
            <a:extLst xmlns:a="http://schemas.openxmlformats.org/drawingml/2006/main">
              <a:ext uri="{FF2B5EF4-FFF2-40B4-BE49-F238E27FC236}">
                <a16:creationId xmlns:a16="http://schemas.microsoft.com/office/drawing/2014/main" id="{7119D090-C3C9-4F9A-9065-3A825A78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in-arrow-0-shaft">
            <a:extLst xmlns:a="http://schemas.openxmlformats.org/drawingml/2006/main">
              <a:ext uri="{FF2B5EF4-FFF2-40B4-BE49-F238E27FC236}">
                <a16:creationId xmlns:a16="http://schemas.microsoft.com/office/drawing/2014/main" id="{0343C6E3-1CC9-4622-826C-63989EE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in-arrow-0-head">
            <a:extLst xmlns:a="http://schemas.openxmlformats.org/drawingml/2006/main">
              <a:ext uri="{FF2B5EF4-FFF2-40B4-BE49-F238E27FC236}">
                <a16:creationId xmlns:a16="http://schemas.microsoft.com/office/drawing/2014/main" id="{DFF3D4A9-87B1-4496-8207-AAD3F1F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6" name="main-arrow-1-shaft">
            <a:extLst xmlns:a="http://schemas.openxmlformats.org/drawingml/2006/main">
              <a:ext uri="{FF2B5EF4-FFF2-40B4-BE49-F238E27FC236}">
                <a16:creationId xmlns:a16="http://schemas.microsoft.com/office/drawing/2014/main" id="{9DC2AC5F-8CEC-4A71-BBC6-020BF021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in-arrow-1-head">
            <a:extLst xmlns:a="http://schemas.openxmlformats.org/drawingml/2006/main">
              <a:ext uri="{FF2B5EF4-FFF2-40B4-BE49-F238E27FC236}">
                <a16:creationId xmlns:a16="http://schemas.microsoft.com/office/drawing/2014/main" id="{6F51BCE8-05A5-443B-A446-2E32CA4A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8" name="main-arrow-2-shaft">
            <a:extLst xmlns:a="http://schemas.openxmlformats.org/drawingml/2006/main">
              <a:ext uri="{FF2B5EF4-FFF2-40B4-BE49-F238E27FC236}">
                <a16:creationId xmlns:a16="http://schemas.microsoft.com/office/drawing/2014/main" id="{D448AC6D-1BF3-4F8C-9F64-B30427E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in-arrow-2-head">
            <a:extLst xmlns:a="http://schemas.openxmlformats.org/drawingml/2006/main">
              <a:ext uri="{FF2B5EF4-FFF2-40B4-BE49-F238E27FC236}">
                <a16:creationId xmlns:a16="http://schemas.microsoft.com/office/drawing/2014/main" id="{7A5C8F61-9482-45CC-975E-7632D103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0" name="main-arrow-3-shaft">
            <a:extLst xmlns:a="http://schemas.openxmlformats.org/drawingml/2006/main">
              <a:ext uri="{FF2B5EF4-FFF2-40B4-BE49-F238E27FC236}">
                <a16:creationId xmlns:a16="http://schemas.microsoft.com/office/drawing/2014/main" id="{60DC3274-53BF-421A-A712-798D2066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in-arrow-3-head">
            <a:extLst xmlns:a="http://schemas.openxmlformats.org/drawingml/2006/main">
              <a:ext uri="{FF2B5EF4-FFF2-40B4-BE49-F238E27FC236}">
                <a16:creationId xmlns:a16="http://schemas.microsoft.com/office/drawing/2014/main" id="{328A6304-2DCB-4976-8F81-92C8EF0C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2" name="main-arrow-4-shaft">
            <a:extLst xmlns:a="http://schemas.openxmlformats.org/drawingml/2006/main">
              <a:ext uri="{FF2B5EF4-FFF2-40B4-BE49-F238E27FC236}">
                <a16:creationId xmlns:a16="http://schemas.microsoft.com/office/drawing/2014/main" id="{32C00D71-1DE2-4BFE-B697-3F860863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in-arrow-4-head">
            <a:extLst xmlns:a="http://schemas.openxmlformats.org/drawingml/2006/main">
              <a:ext uri="{FF2B5EF4-FFF2-40B4-BE49-F238E27FC236}">
                <a16:creationId xmlns:a16="http://schemas.microsoft.com/office/drawing/2014/main" id="{3DD9223F-CE04-441C-95CD-AF47A72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4" name="main-68-box">
            <a:extLst xmlns:a="http://schemas.openxmlformats.org/drawingml/2006/main">
              <a:ext uri="{FF2B5EF4-FFF2-40B4-BE49-F238E27FC236}">
                <a16:creationId xmlns:a16="http://schemas.microsoft.com/office/drawing/2014/main" id="{99D34DE8-5724-47F2-9484-59CBBFE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15" name="main-68-accent">
            <a:extLst xmlns:a="http://schemas.openxmlformats.org/drawingml/2006/main">
              <a:ext uri="{FF2B5EF4-FFF2-40B4-BE49-F238E27FC236}">
                <a16:creationId xmlns:a16="http://schemas.microsoft.com/office/drawing/2014/main" id="{A4CE1B14-C9B3-4C95-881C-6A81FEB2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in-68-label">
            <a:extLst xmlns:a="http://schemas.openxmlformats.org/drawingml/2006/main">
              <a:ext uri="{FF2B5EF4-FFF2-40B4-BE49-F238E27FC236}">
                <a16:creationId xmlns:a16="http://schemas.microsoft.com/office/drawing/2014/main" id="{D5D8D789-93B5-40E4-9092-C52ACF5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Usuario</a:t>
            </a:r>
          </a:p>
        </p:txBody>
      </p:sp>
      <p:sp>
        <p:nvSpPr>
          <p:cNvPr id="17" name="main-235-box">
            <a:extLst xmlns:a="http://schemas.openxmlformats.org/drawingml/2006/main">
              <a:ext uri="{FF2B5EF4-FFF2-40B4-BE49-F238E27FC236}">
                <a16:creationId xmlns:a16="http://schemas.microsoft.com/office/drawing/2014/main" id="{DEE95D35-4A16-45AF-8AC2-C3FD0FA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37D5FF"/>
            </a:solidFill>
            <a:prstDash val="solid"/>
          </a:ln>
        </p:spPr>
      </p:sp>
      <p:sp>
        <p:nvSpPr>
          <p:cNvPr id="18" name="main-235-accent">
            <a:extLst xmlns:a="http://schemas.openxmlformats.org/drawingml/2006/main">
              <a:ext uri="{FF2B5EF4-FFF2-40B4-BE49-F238E27FC236}">
                <a16:creationId xmlns:a16="http://schemas.microsoft.com/office/drawing/2014/main" id="{BA36331C-7097-445F-AE47-89C89FA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in-235-label">
            <a:extLst xmlns:a="http://schemas.openxmlformats.org/drawingml/2006/main">
              <a:ext uri="{FF2B5EF4-FFF2-40B4-BE49-F238E27FC236}">
                <a16:creationId xmlns:a16="http://schemas.microsoft.com/office/drawing/2014/main" id="{C41B8B85-0D33-45DF-AC16-4A964335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Streamlit</a:t>
            </a:r>
          </a:p>
        </p:txBody>
      </p:sp>
      <p:sp>
        <p:nvSpPr>
          <p:cNvPr id="20" name="main-402-box">
            <a:extLst xmlns:a="http://schemas.openxmlformats.org/drawingml/2006/main">
              <a:ext uri="{FF2B5EF4-FFF2-40B4-BE49-F238E27FC236}">
                <a16:creationId xmlns:a16="http://schemas.microsoft.com/office/drawing/2014/main" id="{7417B6BE-679A-458A-B84D-BBCEE42D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21" name="main-402-accent">
            <a:extLst xmlns:a="http://schemas.openxmlformats.org/drawingml/2006/main">
              <a:ext uri="{FF2B5EF4-FFF2-40B4-BE49-F238E27FC236}">
                <a16:creationId xmlns:a16="http://schemas.microsoft.com/office/drawing/2014/main" id="{C51FC818-9E2C-422E-A278-361A58C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ain-402-label">
            <a:extLst xmlns:a="http://schemas.openxmlformats.org/drawingml/2006/main">
              <a:ext uri="{FF2B5EF4-FFF2-40B4-BE49-F238E27FC236}">
                <a16:creationId xmlns:a16="http://schemas.microsoft.com/office/drawing/2014/main" id="{B75A48ED-D784-4104-BDFE-298DC8E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FastAPI</a:t>
            </a:r>
          </a:p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+ JWT</a:t>
            </a:r>
          </a:p>
        </p:txBody>
      </p:sp>
      <p:sp>
        <p:nvSpPr>
          <p:cNvPr id="23" name="main-569-box">
            <a:extLst xmlns:a="http://schemas.openxmlformats.org/drawingml/2006/main">
              <a:ext uri="{FF2B5EF4-FFF2-40B4-BE49-F238E27FC236}">
                <a16:creationId xmlns:a16="http://schemas.microsoft.com/office/drawing/2014/main" id="{281E65D2-1A92-48B4-B228-41DD3879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24" name="main-569-accent">
            <a:extLst xmlns:a="http://schemas.openxmlformats.org/drawingml/2006/main">
              <a:ext uri="{FF2B5EF4-FFF2-40B4-BE49-F238E27FC236}">
                <a16:creationId xmlns:a16="http://schemas.microsoft.com/office/drawing/2014/main" id="{F92EF6A1-13DF-462B-B9B4-361724F0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ain-569-label">
            <a:extLst xmlns:a="http://schemas.openxmlformats.org/drawingml/2006/main">
              <a:ext uri="{FF2B5EF4-FFF2-40B4-BE49-F238E27FC236}">
                <a16:creationId xmlns:a16="http://schemas.microsoft.com/office/drawing/2014/main" id="{97DB6724-444E-40A7-AA85-DCD075D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PDF</a:t>
            </a:r>
          </a:p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normal / OCR</a:t>
            </a:r>
          </a:p>
        </p:txBody>
      </p:sp>
      <p:sp>
        <p:nvSpPr>
          <p:cNvPr id="26" name="main-736-box">
            <a:extLst xmlns:a="http://schemas.openxmlformats.org/drawingml/2006/main">
              <a:ext uri="{FF2B5EF4-FFF2-40B4-BE49-F238E27FC236}">
                <a16:creationId xmlns:a16="http://schemas.microsoft.com/office/drawing/2014/main" id="{B3005F0B-469B-4887-B2FA-8E8C2055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27" name="main-736-accent">
            <a:extLst xmlns:a="http://schemas.openxmlformats.org/drawingml/2006/main">
              <a:ext uri="{FF2B5EF4-FFF2-40B4-BE49-F238E27FC236}">
                <a16:creationId xmlns:a16="http://schemas.microsoft.com/office/drawing/2014/main" id="{369C21AD-1B70-4DFF-AB93-B935D89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ain-736-label">
            <a:extLst xmlns:a="http://schemas.openxmlformats.org/drawingml/2006/main">
              <a:ext uri="{FF2B5EF4-FFF2-40B4-BE49-F238E27FC236}">
                <a16:creationId xmlns:a16="http://schemas.microsoft.com/office/drawing/2014/main" id="{F0E7D1FE-20DA-4DF0-AA3E-3DF6BA4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LangGraph</a:t>
            </a:r>
          </a:p>
        </p:txBody>
      </p:sp>
      <p:sp>
        <p:nvSpPr>
          <p:cNvPr id="29" name="main-903-box">
            <a:extLst xmlns:a="http://schemas.openxmlformats.org/drawingml/2006/main">
              <a:ext uri="{FF2B5EF4-FFF2-40B4-BE49-F238E27FC236}">
                <a16:creationId xmlns:a16="http://schemas.microsoft.com/office/drawing/2014/main" id="{6B15A4EA-E369-4276-9024-DC6633B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26D99A"/>
            </a:solidFill>
            <a:prstDash val="solid"/>
          </a:ln>
        </p:spPr>
      </p:sp>
      <p:sp>
        <p:nvSpPr>
          <p:cNvPr id="30" name="main-903-accent">
            <a:extLst xmlns:a="http://schemas.openxmlformats.org/drawingml/2006/main">
              <a:ext uri="{FF2B5EF4-FFF2-40B4-BE49-F238E27FC236}">
                <a16:creationId xmlns:a16="http://schemas.microsoft.com/office/drawing/2014/main" id="{20CCEBAE-68E7-4C57-BA8D-9F2A8A8F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ain-903-label">
            <a:extLst xmlns:a="http://schemas.openxmlformats.org/drawingml/2006/main">
              <a:ext uri="{FF2B5EF4-FFF2-40B4-BE49-F238E27FC236}">
                <a16:creationId xmlns:a16="http://schemas.microsoft.com/office/drawing/2014/main" id="{BD376BDB-7461-4577-B103-A8721544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Resultados</a:t>
            </a:r>
          </a:p>
        </p:txBody>
      </p:sp>
      <p:sp>
        <p:nvSpPr>
          <p:cNvPr id="32" name="analysis-graph-title">
            <a:extLst xmlns:a="http://schemas.openxmlformats.org/drawingml/2006/main">
              <a:ext uri="{FF2B5EF4-FFF2-40B4-BE49-F238E27FC236}">
                <a16:creationId xmlns:a16="http://schemas.microsoft.com/office/drawing/2014/main" id="{258FD46E-B2AC-4B84-BDC9-D6C985DE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GRAFO DE ANÁLISIS</a:t>
            </a:r>
          </a:p>
        </p:txBody>
      </p:sp>
      <p:sp>
        <p:nvSpPr>
          <p:cNvPr id="33" name="analysis-graph-rule">
            <a:extLst xmlns:a="http://schemas.openxmlformats.org/drawingml/2006/main">
              <a:ext uri="{FF2B5EF4-FFF2-40B4-BE49-F238E27FC236}">
                <a16:creationId xmlns:a16="http://schemas.microsoft.com/office/drawing/2014/main" id="{15E138C2-1EE2-41B4-9B65-4010DE10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00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nalysis-num-1">
            <a:extLst xmlns:a="http://schemas.openxmlformats.org/drawingml/2006/main">
              <a:ext uri="{FF2B5EF4-FFF2-40B4-BE49-F238E27FC236}">
                <a16:creationId xmlns:a16="http://schemas.microsoft.com/office/drawing/2014/main" id="{D6AA8C5E-2506-4AF0-99EC-FAA76EA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nalysis-n-1">
            <a:extLst xmlns:a="http://schemas.openxmlformats.org/drawingml/2006/main">
              <a:ext uri="{FF2B5EF4-FFF2-40B4-BE49-F238E27FC236}">
                <a16:creationId xmlns:a16="http://schemas.microsoft.com/office/drawing/2014/main" id="{FC0A7916-D0FB-40BC-A9A2-AAF483E9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1</a:t>
            </a:r>
          </a:p>
        </p:txBody>
      </p:sp>
      <p:sp>
        <p:nvSpPr>
          <p:cNvPr id="36" name="analysis-label-1">
            <a:extLst xmlns:a="http://schemas.openxmlformats.org/drawingml/2006/main">
              <a:ext uri="{FF2B5EF4-FFF2-40B4-BE49-F238E27FC236}">
                <a16:creationId xmlns:a16="http://schemas.microsoft.com/office/drawing/2014/main" id="{2123E11B-2359-49B5-BD7D-5F2C0F6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Extraer PDF</a:t>
            </a:r>
          </a:p>
        </p:txBody>
      </p:sp>
      <p:sp>
        <p:nvSpPr>
          <p:cNvPr id="37" name="analysis-spine-1">
            <a:extLst xmlns:a="http://schemas.openxmlformats.org/drawingml/2006/main">
              <a:ext uri="{FF2B5EF4-FFF2-40B4-BE49-F238E27FC236}">
                <a16:creationId xmlns:a16="http://schemas.microsoft.com/office/drawing/2014/main" id="{E9351FB2-7C0D-4902-8C0A-B63BFCC2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1477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nalysis-num-2">
            <a:extLst xmlns:a="http://schemas.openxmlformats.org/drawingml/2006/main">
              <a:ext uri="{FF2B5EF4-FFF2-40B4-BE49-F238E27FC236}">
                <a16:creationId xmlns:a16="http://schemas.microsoft.com/office/drawing/2014/main" id="{0F7FD5C5-C362-4223-8296-589E4D7E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nalysis-n-2">
            <a:extLst xmlns:a="http://schemas.openxmlformats.org/drawingml/2006/main">
              <a:ext uri="{FF2B5EF4-FFF2-40B4-BE49-F238E27FC236}">
                <a16:creationId xmlns:a16="http://schemas.microsoft.com/office/drawing/2014/main" id="{695E1D41-C811-48B6-9F65-CECFFE95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2</a:t>
            </a:r>
          </a:p>
        </p:txBody>
      </p:sp>
      <p:sp>
        <p:nvSpPr>
          <p:cNvPr id="40" name="analysis-label-2">
            <a:extLst xmlns:a="http://schemas.openxmlformats.org/drawingml/2006/main">
              <a:ext uri="{FF2B5EF4-FFF2-40B4-BE49-F238E27FC236}">
                <a16:creationId xmlns:a16="http://schemas.microsoft.com/office/drawing/2014/main" id="{13923232-2E74-41FA-8221-5A1364A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Calcular ratios</a:t>
            </a:r>
          </a:p>
        </p:txBody>
      </p:sp>
      <p:sp>
        <p:nvSpPr>
          <p:cNvPr id="41" name="analysis-spine-2">
            <a:extLst xmlns:a="http://schemas.openxmlformats.org/drawingml/2006/main">
              <a:ext uri="{FF2B5EF4-FFF2-40B4-BE49-F238E27FC236}">
                <a16:creationId xmlns:a16="http://schemas.microsoft.com/office/drawing/2014/main" id="{CFE77B61-8638-4954-AB1A-8033B2F5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386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nalysis-num-3">
            <a:extLst xmlns:a="http://schemas.openxmlformats.org/drawingml/2006/main">
              <a:ext uri="{FF2B5EF4-FFF2-40B4-BE49-F238E27FC236}">
                <a16:creationId xmlns:a16="http://schemas.microsoft.com/office/drawing/2014/main" id="{A5F13C74-FE83-41A0-831E-3A6A47E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nalysis-n-3">
            <a:extLst xmlns:a="http://schemas.openxmlformats.org/drawingml/2006/main">
              <a:ext uri="{FF2B5EF4-FFF2-40B4-BE49-F238E27FC236}">
                <a16:creationId xmlns:a16="http://schemas.microsoft.com/office/drawing/2014/main" id="{6A0F8476-255F-4748-9114-AF24C2B8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3</a:t>
            </a:r>
          </a:p>
        </p:txBody>
      </p:sp>
      <p:sp>
        <p:nvSpPr>
          <p:cNvPr id="44" name="analysis-label-3">
            <a:extLst xmlns:a="http://schemas.openxmlformats.org/drawingml/2006/main">
              <a:ext uri="{FF2B5EF4-FFF2-40B4-BE49-F238E27FC236}">
                <a16:creationId xmlns:a16="http://schemas.microsoft.com/office/drawing/2014/main" id="{748A09A1-2EE3-4AA3-BA1B-0350BDB4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Detectar alertas</a:t>
            </a:r>
          </a:p>
        </p:txBody>
      </p:sp>
      <p:sp>
        <p:nvSpPr>
          <p:cNvPr id="45" name="analysis-spine-3">
            <a:extLst xmlns:a="http://schemas.openxmlformats.org/drawingml/2006/main">
              <a:ext uri="{FF2B5EF4-FFF2-40B4-BE49-F238E27FC236}">
                <a16:creationId xmlns:a16="http://schemas.microsoft.com/office/drawing/2014/main" id="{8EBAF491-DCB8-4149-9B05-D320520E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6252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analysis-num-4">
            <a:extLst xmlns:a="http://schemas.openxmlformats.org/drawingml/2006/main">
              <a:ext uri="{FF2B5EF4-FFF2-40B4-BE49-F238E27FC236}">
                <a16:creationId xmlns:a16="http://schemas.microsoft.com/office/drawing/2014/main" id="{BBC806A2-A418-4408-A343-1A175C26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analysis-n-4">
            <a:extLst xmlns:a="http://schemas.openxmlformats.org/drawingml/2006/main">
              <a:ext uri="{FF2B5EF4-FFF2-40B4-BE49-F238E27FC236}">
                <a16:creationId xmlns:a16="http://schemas.microsoft.com/office/drawing/2014/main" id="{741F60FB-E6A0-455B-9FCE-68F6BF70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4</a:t>
            </a:r>
          </a:p>
        </p:txBody>
      </p:sp>
      <p:sp>
        <p:nvSpPr>
          <p:cNvPr id="48" name="analysis-label-4">
            <a:extLst xmlns:a="http://schemas.openxmlformats.org/drawingml/2006/main">
              <a:ext uri="{FF2B5EF4-FFF2-40B4-BE49-F238E27FC236}">
                <a16:creationId xmlns:a16="http://schemas.microsoft.com/office/drawing/2014/main" id="{97C8A61F-3894-40BB-B1B7-D9730282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Generar resumen</a:t>
            </a:r>
          </a:p>
        </p:txBody>
      </p:sp>
      <p:sp>
        <p:nvSpPr>
          <p:cNvPr id="49" name="rag-title">
            <a:extLst xmlns:a="http://schemas.openxmlformats.org/drawingml/2006/main">
              <a:ext uri="{FF2B5EF4-FFF2-40B4-BE49-F238E27FC236}">
                <a16:creationId xmlns:a16="http://schemas.microsoft.com/office/drawing/2014/main" id="{B209EE9D-EDC2-4B87-85BE-6F964EA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9A"/>
                </a:solidFill>
              </a:defRPr>
            </a:pPr>
            <a:r>
              <a:rPr sz="1200" b="1">
                <a:solidFill>
                  <a:srgbClr val="26D99A"/>
                </a:solidFill>
              </a:rPr>
              <a:t>GRAFO DE PREGUNTAS · RAG GRADUADO</a:t>
            </a:r>
          </a:p>
        </p:txBody>
      </p:sp>
      <p:sp>
        <p:nvSpPr>
          <p:cNvPr id="50" name="rag-rule">
            <a:extLst xmlns:a="http://schemas.openxmlformats.org/drawingml/2006/main">
              <a:ext uri="{FF2B5EF4-FFF2-40B4-BE49-F238E27FC236}">
                <a16:creationId xmlns:a16="http://schemas.microsoft.com/office/drawing/2014/main" id="{7BC75B4F-D5D1-43D5-AAAC-B9B27ABD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3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ag-flow">
            <a:extLst xmlns:a="http://schemas.openxmlformats.org/drawingml/2006/main">
              <a:ext uri="{FF2B5EF4-FFF2-40B4-BE49-F238E27FC236}">
                <a16:creationId xmlns:a16="http://schemas.microsoft.com/office/drawing/2014/main" id="{A20D0F07-C3C6-4BAF-A001-AFA07B0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Evidencia estructurada  →  búsqueda literal  →  similitud semántica</a:t>
            </a:r>
          </a:p>
        </p:txBody>
      </p:sp>
      <p:sp>
        <p:nvSpPr>
          <p:cNvPr id="52" name="rag-decision">
            <a:extLst xmlns:a="http://schemas.openxmlformats.org/drawingml/2006/main">
              <a:ext uri="{FF2B5EF4-FFF2-40B4-BE49-F238E27FC236}">
                <a16:creationId xmlns:a16="http://schemas.microsoft.com/office/drawing/2014/main" id="{7E689009-2AFA-403F-85D1-0EB6392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493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8F5"/>
          </a:solidFill>
          <a:ln xmlns:a="http://schemas.openxmlformats.org/drawingml/2006/main" w="19050">
            <a:solidFill>
              <a:srgbClr val="26D99A"/>
            </a:solidFill>
            <a:prstDash val="solid"/>
          </a:ln>
        </p:spPr>
      </p:sp>
      <p:sp>
        <p:nvSpPr>
          <p:cNvPr id="53" name="rag-question">
            <a:extLst xmlns:a="http://schemas.openxmlformats.org/drawingml/2006/main">
              <a:ext uri="{FF2B5EF4-FFF2-40B4-BE49-F238E27FC236}">
                <a16:creationId xmlns:a16="http://schemas.microsoft.com/office/drawing/2014/main" id="{3CC5284F-564E-43F2-B497-55E67947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B"/>
                </a:solidFill>
              </a:defRPr>
            </a:pPr>
            <a:r>
              <a:rPr sz="1500" b="1">
                <a:solidFill>
                  <a:srgbClr val="10233B"/>
                </a:solidFill>
              </a:rPr>
              <a:t>¿La evidencia supera el umbral?</a:t>
            </a:r>
          </a:p>
        </p:txBody>
      </p:sp>
      <p:sp>
        <p:nvSpPr>
          <p:cNvPr id="54" name="rag-outcomes">
            <a:extLst xmlns:a="http://schemas.openxmlformats.org/drawingml/2006/main">
              <a:ext uri="{FF2B5EF4-FFF2-40B4-BE49-F238E27FC236}">
                <a16:creationId xmlns:a16="http://schemas.microsoft.com/office/drawing/2014/main" id="{44CB3FB5-839B-4C88-BEF9-378897F8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F87"/>
                </a:solidFill>
              </a:defRPr>
            </a:pPr>
            <a:r>
              <a:rPr sz="1125" b="1">
                <a:solidFill>
                  <a:srgbClr val="5B6F87"/>
                </a:solidFill>
              </a:rPr>
              <a:t>SÍ  →  Gemini responde con evidencia     NO  →  solicita aclaración</a:t>
            </a:r>
          </a:p>
        </p:txBody>
      </p:sp>
      <p:sp>
        <p:nvSpPr>
          <p:cNvPr id="55" name="rag-vars">
            <a:extLst xmlns:a="http://schemas.openxmlformats.org/drawingml/2006/main">
              <a:ext uri="{FF2B5EF4-FFF2-40B4-BE49-F238E27FC236}">
                <a16:creationId xmlns:a16="http://schemas.microsoft.com/office/drawing/2014/main" id="{6EBE05AB-B3AE-4AA7-8C38-9A26DE1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BFF"/>
                </a:solidFill>
              </a:defRPr>
            </a:pPr>
            <a:r>
              <a:rPr sz="1275" b="1">
                <a:solidFill>
                  <a:srgbClr val="168BFF"/>
                </a:solidFill>
              </a:rPr>
              <a:t>TOP_K = 3   ·   umbral semántico = 0.55</a:t>
            </a:r>
          </a:p>
        </p:txBody>
      </p:sp>
      <p:sp>
        <p:nvSpPr>
          <p:cNvPr id="56" name="outputs-band">
            <a:extLst xmlns:a="http://schemas.openxmlformats.org/drawingml/2006/main">
              <a:ext uri="{FF2B5EF4-FFF2-40B4-BE49-F238E27FC236}">
                <a16:creationId xmlns:a16="http://schemas.microsoft.com/office/drawing/2014/main" id="{FFA8AB34-05F6-496F-8E3F-6FA7ABE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4013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utputs-band-text">
            <a:extLst xmlns:a="http://schemas.openxmlformats.org/drawingml/2006/main">
              <a:ext uri="{FF2B5EF4-FFF2-40B4-BE49-F238E27FC236}">
                <a16:creationId xmlns:a16="http://schemas.microsoft.com/office/drawing/2014/main" id="{1C2DA79E-7885-49AF-93B1-07524EC1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19775"/>
            <a:ext cx="1007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Liquidez  ·  Prueba ácida  ·  Endeudamiento  ·  Cobertura  ·  Margen  ·  ROA/ROE  ·  VAN/TIR/Payback</a:t>
            </a:r>
          </a:p>
        </p:txBody>
      </p:sp>
      <p:sp>
        <p:nvSpPr>
          <p:cNvPr id="58" name="footer-4">
            <a:extLst xmlns:a="http://schemas.openxmlformats.org/drawingml/2006/main">
              <a:ext uri="{FF2B5EF4-FFF2-40B4-BE49-F238E27FC236}">
                <a16:creationId xmlns:a16="http://schemas.microsoft.com/office/drawing/2014/main" id="{989EB472-25CB-4069-B6A9-313B62D3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F87"/>
                </a:solidFill>
              </a:defRPr>
            </a:pPr>
            <a:r>
              <a:rPr sz="825" b="1">
                <a:solidFill>
                  <a:srgbClr val="5B6F87"/>
                </a:solidFill>
              </a:rPr>
              <a:t>AGENTE DE RIESGO FINANCIERO</a:t>
            </a:r>
          </a:p>
        </p:txBody>
      </p:sp>
      <p:sp>
        <p:nvSpPr>
          <p:cNvPr id="59" name="page-4">
            <a:extLst xmlns:a="http://schemas.openxmlformats.org/drawingml/2006/main">
              <a:ext uri="{FF2B5EF4-FFF2-40B4-BE49-F238E27FC236}">
                <a16:creationId xmlns:a16="http://schemas.microsoft.com/office/drawing/2014/main" id="{7E2A90C1-F13D-4156-BD73-322F3DB3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F87"/>
                </a:solidFill>
              </a:defRPr>
            </a:pPr>
            <a:r>
              <a:rPr sz="975" b="1">
                <a:solidFill>
                  <a:srgbClr val="5B6F8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9980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04 · Evidencia-kicker">
            <a:extLst xmlns:a="http://schemas.openxmlformats.org/drawingml/2006/main">
              <a:ext uri="{FF2B5EF4-FFF2-40B4-BE49-F238E27FC236}">
                <a16:creationId xmlns:a16="http://schemas.microsoft.com/office/drawing/2014/main" id="{F51792FA-BD02-4BB6-A6A8-2E9D06CB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04 · EVIDENCIA</a:t>
            </a:r>
          </a:p>
        </p:txBody>
      </p:sp>
      <p:sp>
        <p:nvSpPr>
          <p:cNvPr id="2" name="04 · Evidencia-heading">
            <a:extLst xmlns:a="http://schemas.openxmlformats.org/drawingml/2006/main">
              <a:ext uri="{FF2B5EF4-FFF2-40B4-BE49-F238E27FC236}">
                <a16:creationId xmlns:a16="http://schemas.microsoft.com/office/drawing/2014/main" id="{B9D38A7E-823F-4F47-BC81-807FA2F7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Una demo verificable, no un mockup</a:t>
            </a:r>
          </a:p>
        </p:txBody>
      </p:sp>
      <p:sp>
        <p:nvSpPr>
          <p:cNvPr id="3" name="04 · Evidencia-rule">
            <a:extLst xmlns:a="http://schemas.openxmlformats.org/drawingml/2006/main">
              <a:ext uri="{FF2B5EF4-FFF2-40B4-BE49-F238E27FC236}">
                <a16:creationId xmlns:a16="http://schemas.microsoft.com/office/drawing/2014/main" id="{60BE233A-D455-4071-9170-242764A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ot-analysis-frame">
            <a:extLst xmlns:a="http://schemas.openxmlformats.org/drawingml/2006/main">
              <a:ext uri="{FF2B5EF4-FFF2-40B4-BE49-F238E27FC236}">
                <a16:creationId xmlns:a16="http://schemas.microsoft.com/office/drawing/2014/main" id="{0EF29BF5-5A3D-499A-AAEA-2729A247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219450" cy="197167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19050">
            <a:solidFill>
              <a:srgbClr val="C9D8E8"/>
            </a:solidFill>
            <a:prstDash val="solid"/>
          </a:ln>
        </p:spPr>
      </p:sp>
      <p:sp>
        <p:nvSpPr>
          <p:cNvPr id="5" name="shot-analysis-top">
            <a:extLst xmlns:a="http://schemas.openxmlformats.org/drawingml/2006/main">
              <a:ext uri="{FF2B5EF4-FFF2-40B4-BE49-F238E27FC236}">
                <a16:creationId xmlns:a16="http://schemas.microsoft.com/office/drawing/2014/main" id="{A30CE4E5-0471-4C42-A572-839EF9DF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ot-analysis-camera">
            <a:extLst xmlns:a="http://schemas.openxmlformats.org/drawingml/2006/main">
              <a:ext uri="{FF2B5EF4-FFF2-40B4-BE49-F238E27FC236}">
                <a16:creationId xmlns:a16="http://schemas.microsoft.com/office/drawing/2014/main" id="{142426CA-EFA4-44DE-A159-1D03BEC6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2431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BFF"/>
                </a:solidFill>
              </a:defRPr>
            </a:pPr>
            <a:r>
              <a:rPr sz="2100" b="1">
                <a:solidFill>
                  <a:srgbClr val="168BFF"/>
                </a:solidFill>
              </a:rPr>
              <a:t>▣</a:t>
            </a:r>
          </a:p>
        </p:txBody>
      </p:sp>
      <p:sp>
        <p:nvSpPr>
          <p:cNvPr id="7" name="shot-analysis-label">
            <a:extLst xmlns:a="http://schemas.openxmlformats.org/drawingml/2006/main">
              <a:ext uri="{FF2B5EF4-FFF2-40B4-BE49-F238E27FC236}">
                <a16:creationId xmlns:a16="http://schemas.microsoft.com/office/drawing/2014/main" id="{41C31D13-9D93-40E0-97E7-C1D9CF8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2713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F87"/>
                </a:solidFill>
              </a:defRPr>
            </a:pPr>
            <a:r>
              <a:rPr sz="1200" b="1">
                <a:solidFill>
                  <a:srgbClr val="5B6F87"/>
                </a:solidFill>
              </a:rPr>
              <a:t>Análisis + alertas</a:t>
            </a:r>
          </a:p>
        </p:txBody>
      </p:sp>
      <p:sp>
        <p:nvSpPr>
          <p:cNvPr id="8" name="shot-analysis-replace">
            <a:extLst xmlns:a="http://schemas.openxmlformats.org/drawingml/2006/main">
              <a:ext uri="{FF2B5EF4-FFF2-40B4-BE49-F238E27FC236}">
                <a16:creationId xmlns:a16="http://schemas.microsoft.com/office/drawing/2014/main" id="{4F556725-0227-444B-86BE-8CE05CCE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B6F87"/>
                </a:solidFill>
              </a:defRPr>
            </a:pPr>
            <a:r>
              <a:rPr sz="750" b="1">
                <a:solidFill>
                  <a:srgbClr val="5B6F87"/>
                </a:solidFill>
              </a:rPr>
              <a:t>REEMPLAZAR CON CAPTURA REAL</a:t>
            </a:r>
          </a:p>
        </p:txBody>
      </p:sp>
      <p:sp>
        <p:nvSpPr>
          <p:cNvPr id="9" name="shot-dashboard-frame">
            <a:extLst xmlns:a="http://schemas.openxmlformats.org/drawingml/2006/main">
              <a:ext uri="{FF2B5EF4-FFF2-40B4-BE49-F238E27FC236}">
                <a16:creationId xmlns:a16="http://schemas.microsoft.com/office/drawing/2014/main" id="{87D9FBD4-83D2-43C4-AC19-A0A1580D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90675"/>
            <a:ext cx="3219450" cy="197167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19050">
            <a:solidFill>
              <a:srgbClr val="C9D8E8"/>
            </a:solidFill>
            <a:prstDash val="solid"/>
          </a:ln>
        </p:spPr>
      </p:sp>
      <p:sp>
        <p:nvSpPr>
          <p:cNvPr id="10" name="shot-dashboard-top">
            <a:extLst xmlns:a="http://schemas.openxmlformats.org/drawingml/2006/main">
              <a:ext uri="{FF2B5EF4-FFF2-40B4-BE49-F238E27FC236}">
                <a16:creationId xmlns:a16="http://schemas.microsoft.com/office/drawing/2014/main" id="{E364631B-2C43-4717-8FC9-67C2EA59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24025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ashboard-camera">
            <a:extLst xmlns:a="http://schemas.openxmlformats.org/drawingml/2006/main">
              <a:ext uri="{FF2B5EF4-FFF2-40B4-BE49-F238E27FC236}">
                <a16:creationId xmlns:a16="http://schemas.microsoft.com/office/drawing/2014/main" id="{B3CDAC37-5F0B-4E36-B6AE-DC9A5D6D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431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BFF"/>
                </a:solidFill>
              </a:defRPr>
            </a:pPr>
            <a:r>
              <a:rPr sz="2100" b="1">
                <a:solidFill>
                  <a:srgbClr val="168BFF"/>
                </a:solidFill>
              </a:rPr>
              <a:t>▣</a:t>
            </a:r>
          </a:p>
        </p:txBody>
      </p:sp>
      <p:sp>
        <p:nvSpPr>
          <p:cNvPr id="12" name="shot-dashboard-label">
            <a:extLst xmlns:a="http://schemas.openxmlformats.org/drawingml/2006/main">
              <a:ext uri="{FF2B5EF4-FFF2-40B4-BE49-F238E27FC236}">
                <a16:creationId xmlns:a16="http://schemas.microsoft.com/office/drawing/2014/main" id="{785F2129-7E72-44F5-A1C9-A3F674E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2713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F87"/>
                </a:solidFill>
              </a:defRPr>
            </a:pPr>
            <a:r>
              <a:rPr sz="1200" b="1">
                <a:solidFill>
                  <a:srgbClr val="5B6F87"/>
                </a:solidFill>
              </a:rPr>
              <a:t>Dashboard interactivo</a:t>
            </a:r>
          </a:p>
        </p:txBody>
      </p:sp>
      <p:sp>
        <p:nvSpPr>
          <p:cNvPr id="13" name="shot-dashboard-replace">
            <a:extLst xmlns:a="http://schemas.openxmlformats.org/drawingml/2006/main">
              <a:ext uri="{FF2B5EF4-FFF2-40B4-BE49-F238E27FC236}">
                <a16:creationId xmlns:a16="http://schemas.microsoft.com/office/drawing/2014/main" id="{98B2D9F5-6794-4D86-B436-29D27F7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670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B6F87"/>
                </a:solidFill>
              </a:defRPr>
            </a:pPr>
            <a:r>
              <a:rPr sz="750" b="1">
                <a:solidFill>
                  <a:srgbClr val="5B6F87"/>
                </a:solidFill>
              </a:rPr>
              <a:t>REEMPLAZAR CON CAPTURA REAL</a:t>
            </a:r>
          </a:p>
        </p:txBody>
      </p:sp>
      <p:sp>
        <p:nvSpPr>
          <p:cNvPr id="14" name="shot-rag-frame">
            <a:extLst xmlns:a="http://schemas.openxmlformats.org/drawingml/2006/main">
              <a:ext uri="{FF2B5EF4-FFF2-40B4-BE49-F238E27FC236}">
                <a16:creationId xmlns:a16="http://schemas.microsoft.com/office/drawing/2014/main" id="{FB27C7A6-3E31-485F-B3D3-FB98F21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90675"/>
            <a:ext cx="3219450" cy="197167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19050">
            <a:solidFill>
              <a:srgbClr val="C9D8E8"/>
            </a:solidFill>
            <a:prstDash val="solid"/>
          </a:ln>
        </p:spPr>
      </p:sp>
      <p:sp>
        <p:nvSpPr>
          <p:cNvPr id="15" name="shot-rag-top">
            <a:extLst xmlns:a="http://schemas.openxmlformats.org/drawingml/2006/main">
              <a:ext uri="{FF2B5EF4-FFF2-40B4-BE49-F238E27FC236}">
                <a16:creationId xmlns:a16="http://schemas.microsoft.com/office/drawing/2014/main" id="{8B674B5B-E76A-4679-87B0-24443AA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4025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ot-rag-camera">
            <a:extLst xmlns:a="http://schemas.openxmlformats.org/drawingml/2006/main">
              <a:ext uri="{FF2B5EF4-FFF2-40B4-BE49-F238E27FC236}">
                <a16:creationId xmlns:a16="http://schemas.microsoft.com/office/drawing/2014/main" id="{9C2FD71E-0160-4EB4-8C85-6BF73C56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431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BFF"/>
                </a:solidFill>
              </a:defRPr>
            </a:pPr>
            <a:r>
              <a:rPr sz="2100" b="1">
                <a:solidFill>
                  <a:srgbClr val="168BFF"/>
                </a:solidFill>
              </a:rPr>
              <a:t>▣</a:t>
            </a:r>
          </a:p>
        </p:txBody>
      </p:sp>
      <p:sp>
        <p:nvSpPr>
          <p:cNvPr id="17" name="shot-rag-label">
            <a:extLst xmlns:a="http://schemas.openxmlformats.org/drawingml/2006/main">
              <a:ext uri="{FF2B5EF4-FFF2-40B4-BE49-F238E27FC236}">
                <a16:creationId xmlns:a16="http://schemas.microsoft.com/office/drawing/2014/main" id="{60B67D4A-A2A5-4AB6-83C2-5ACD4F07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52713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F87"/>
                </a:solidFill>
              </a:defRPr>
            </a:pPr>
            <a:r>
              <a:rPr sz="1200" b="1">
                <a:solidFill>
                  <a:srgbClr val="5B6F87"/>
                </a:solidFill>
              </a:rPr>
              <a:t>Pregunta + evidencia</a:t>
            </a:r>
          </a:p>
        </p:txBody>
      </p:sp>
      <p:sp>
        <p:nvSpPr>
          <p:cNvPr id="18" name="shot-rag-replace">
            <a:extLst xmlns:a="http://schemas.openxmlformats.org/drawingml/2006/main">
              <a:ext uri="{FF2B5EF4-FFF2-40B4-BE49-F238E27FC236}">
                <a16:creationId xmlns:a16="http://schemas.microsoft.com/office/drawing/2014/main" id="{669505FC-65A0-475E-841B-FD5F6014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670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B6F87"/>
                </a:solidFill>
              </a:defRPr>
            </a:pPr>
            <a:r>
              <a:rPr sz="750" b="1">
                <a:solidFill>
                  <a:srgbClr val="5B6F87"/>
                </a:solidFill>
              </a:rPr>
              <a:t>REEMPLAZAR CON CAPTURA REAL</a:t>
            </a:r>
          </a:p>
        </p:txBody>
      </p:sp>
      <p:sp>
        <p:nvSpPr>
          <p:cNvPr id="19" name="synthetic-label">
            <a:extLst xmlns:a="http://schemas.openxmlformats.org/drawingml/2006/main">
              <a:ext uri="{FF2B5EF4-FFF2-40B4-BE49-F238E27FC236}">
                <a16:creationId xmlns:a16="http://schemas.microsoft.com/office/drawing/2014/main" id="{F2818C47-9A4F-431A-A68B-E0BBE283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BFF"/>
                </a:solidFill>
              </a:defRPr>
            </a:pPr>
            <a:r>
              <a:rPr sz="975" b="1">
                <a:solidFill>
                  <a:srgbClr val="168BFF"/>
                </a:solidFill>
              </a:rPr>
              <a:t>PRUEBAS CON DATOS FINANCIEROS SINTÉTICOS · SIN INFORMACIÓN REAL DE CLIENTES</a:t>
            </a:r>
          </a:p>
        </p:txBody>
      </p:sp>
      <p:sp>
        <p:nvSpPr>
          <p:cNvPr id="20" name="impact-head">
            <a:extLst xmlns:a="http://schemas.openxmlformats.org/drawingml/2006/main">
              <a:ext uri="{FF2B5EF4-FFF2-40B4-BE49-F238E27FC236}">
                <a16:creationId xmlns:a16="http://schemas.microsoft.com/office/drawing/2014/main" id="{75B50382-7D6E-4512-904D-E797898F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D99A"/>
                </a:solidFill>
              </a:defRPr>
            </a:pPr>
            <a:r>
              <a:rPr sz="1275" b="1">
                <a:solidFill>
                  <a:srgbClr val="26D99A"/>
                </a:solidFill>
              </a:rPr>
              <a:t>IMPACTO</a:t>
            </a:r>
          </a:p>
        </p:txBody>
      </p:sp>
      <p:sp>
        <p:nvSpPr>
          <p:cNvPr id="21" name="impact-copy">
            <a:extLst xmlns:a="http://schemas.openxmlformats.org/drawingml/2006/main">
              <a:ext uri="{FF2B5EF4-FFF2-40B4-BE49-F238E27FC236}">
                <a16:creationId xmlns:a16="http://schemas.microsoft.com/office/drawing/2014/main" id="{3BE8A3B6-97AF-47E9-8D04-EFEF2E37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• Automatiza ratios y alertas</a:t>
            </a:r>
          </a:p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• Responde con evidencia</a:t>
            </a:r>
          </a:p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• Exporta PDF y CSV</a:t>
            </a:r>
          </a:p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• Protege el acceso por roles</a:t>
            </a:r>
          </a:p>
        </p:txBody>
      </p:sp>
      <p:sp>
        <p:nvSpPr>
          <p:cNvPr id="22" name="closing-divider-1">
            <a:extLst xmlns:a="http://schemas.openxmlformats.org/drawingml/2006/main">
              <a:ext uri="{FF2B5EF4-FFF2-40B4-BE49-F238E27FC236}">
                <a16:creationId xmlns:a16="http://schemas.microsoft.com/office/drawing/2014/main" id="{1F71FF1C-7EED-4800-A1BC-6AFDC1C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85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earning-head">
            <a:extLst xmlns:a="http://schemas.openxmlformats.org/drawingml/2006/main">
              <a:ext uri="{FF2B5EF4-FFF2-40B4-BE49-F238E27FC236}">
                <a16:creationId xmlns:a16="http://schemas.microsoft.com/office/drawing/2014/main" id="{F91879A9-09C0-42AC-BD37-623EF38C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48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FF"/>
                </a:solidFill>
              </a:defRPr>
            </a:pPr>
            <a:r>
              <a:rPr sz="1275" b="1">
                <a:solidFill>
                  <a:srgbClr val="168BFF"/>
                </a:solidFill>
              </a:rPr>
              <a:t>APRENDIZAJES</a:t>
            </a:r>
          </a:p>
        </p:txBody>
      </p:sp>
      <p:sp>
        <p:nvSpPr>
          <p:cNvPr id="24" name="learning-copy">
            <a:extLst xmlns:a="http://schemas.openxmlformats.org/drawingml/2006/main">
              <a:ext uri="{FF2B5EF4-FFF2-40B4-BE49-F238E27FC236}">
                <a16:creationId xmlns:a16="http://schemas.microsoft.com/office/drawing/2014/main" id="{054CACE9-692D-4CD5-B6A7-9B186A70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720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Cálculos separados de la IA</a:t>
            </a:r>
          </a:p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RAG para reducir alucinaciones</a:t>
            </a:r>
          </a:p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LangGraph para controlar el flujo</a:t>
            </a:r>
          </a:p>
        </p:txBody>
      </p:sp>
      <p:sp>
        <p:nvSpPr>
          <p:cNvPr id="25" name="closing-divider-2">
            <a:extLst xmlns:a="http://schemas.openxmlformats.org/drawingml/2006/main">
              <a:ext uri="{FF2B5EF4-FFF2-40B4-BE49-F238E27FC236}">
                <a16:creationId xmlns:a16="http://schemas.microsoft.com/office/drawing/2014/main" id="{CC76BA7C-9828-445D-B114-1ED6A4D0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38625"/>
            <a:ext cx="285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ext-head">
            <a:extLst xmlns:a="http://schemas.openxmlformats.org/drawingml/2006/main">
              <a:ext uri="{FF2B5EF4-FFF2-40B4-BE49-F238E27FC236}">
                <a16:creationId xmlns:a16="http://schemas.microsoft.com/office/drawing/2014/main" id="{BD95FB5A-5EBA-46C8-BC9D-8E62520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C857"/>
                </a:solidFill>
              </a:defRPr>
            </a:pPr>
            <a:r>
              <a:rPr sz="1275" b="1">
                <a:solidFill>
                  <a:srgbClr val="FFC857"/>
                </a:solidFill>
              </a:rPr>
              <a:t>SIGUIENTE PASO</a:t>
            </a:r>
          </a:p>
        </p:txBody>
      </p:sp>
      <p:sp>
        <p:nvSpPr>
          <p:cNvPr id="27" name="next-copy">
            <a:extLst xmlns:a="http://schemas.openxmlformats.org/drawingml/2006/main">
              <a:ext uri="{FF2B5EF4-FFF2-40B4-BE49-F238E27FC236}">
                <a16:creationId xmlns:a16="http://schemas.microsoft.com/office/drawing/2014/main" id="{AD62AD1E-BB92-43E8-84F5-6C478F5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321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Comparación histórica, contingencias desde notas y PostgreSQL para mayor escala.</a:t>
            </a:r>
          </a:p>
        </p:txBody>
      </p:sp>
      <p:sp>
        <p:nvSpPr>
          <p:cNvPr id="28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BA521DC4-EDA6-4596-B1EA-CAFA7F22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76925"/>
            <a:ext cx="108966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AC5EB3BD-0265-4EEB-9354-61F0359C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91225"/>
            <a:ext cx="1045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Información financiera comprensible, verificable y útil para decidir.</a:t>
            </a:r>
          </a:p>
        </p:txBody>
      </p:sp>
      <p:sp>
        <p:nvSpPr>
          <p:cNvPr id="30" name="footer-5">
            <a:extLst xmlns:a="http://schemas.openxmlformats.org/drawingml/2006/main">
              <a:ext uri="{FF2B5EF4-FFF2-40B4-BE49-F238E27FC236}">
                <a16:creationId xmlns:a16="http://schemas.microsoft.com/office/drawing/2014/main" id="{24D19DE3-4CB2-4E91-8986-83CAFCDC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F87"/>
                </a:solidFill>
              </a:defRPr>
            </a:pPr>
            <a:r>
              <a:rPr sz="825" b="1">
                <a:solidFill>
                  <a:srgbClr val="5B6F87"/>
                </a:solidFill>
              </a:rPr>
              <a:t>AGENTE DE RIESGO FINANCIERO</a:t>
            </a:r>
          </a:p>
        </p:txBody>
      </p:sp>
      <p:sp>
        <p:nvSpPr>
          <p:cNvPr id="31" name="page-5">
            <a:extLst xmlns:a="http://schemas.openxmlformats.org/drawingml/2006/main">
              <a:ext uri="{FF2B5EF4-FFF2-40B4-BE49-F238E27FC236}">
                <a16:creationId xmlns:a16="http://schemas.microsoft.com/office/drawing/2014/main" id="{A95DF111-8BD3-4910-90A4-2CDC8F19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F87"/>
                </a:solidFill>
              </a:defRPr>
            </a:pPr>
            <a:r>
              <a:rPr sz="975" b="1">
                <a:solidFill>
                  <a:srgbClr val="5B6F8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3263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2026-09-02T03:39:16.4440000Z</dcterms:created>
  <dcterms:modified xsi:type="dcterms:W3CDTF">2026-09-02T03:39:16.4450000Z</dcterms:modified>
</coreProperties>
</file>